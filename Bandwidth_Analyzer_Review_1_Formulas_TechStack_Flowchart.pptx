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85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80960" y="0"/>
            <a:ext cx="4507992" cy="6858000"/>
          </a:xfrm>
          <a:prstGeom prst="rect">
            <a:avLst/>
          </a:prstGeom>
          <a:solidFill>
            <a:srgbClr val="252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502920"/>
            <a:ext cx="621792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8553D"/>
                </a:solidFill>
                <a:latin typeface="Aptos"/>
              </a:rPr>
              <a:t>BAMAT207  /  REVIEW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78992"/>
            <a:ext cx="6446520" cy="1371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 i="0">
                <a:solidFill>
                  <a:srgbClr val="292824"/>
                </a:solidFill>
                <a:latin typeface="Aptos"/>
              </a:rPr>
              <a:t>Reading the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 i="0">
                <a:solidFill>
                  <a:srgbClr val="292824"/>
                </a:solidFill>
                <a:latin typeface="Aptos"/>
              </a:rPr>
              <a:t>shape of network traffic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97480"/>
            <a:ext cx="6309360" cy="7040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706D66"/>
                </a:solidFill>
                <a:latin typeface="Aptos"/>
              </a:rPr>
              <a:t>A statistical bandwidth analyzer for seeing demand,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706D66"/>
                </a:solidFill>
                <a:latin typeface="Aptos"/>
              </a:rPr>
              <a:t>spotting unusual activity and planning capacity.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85800" y="3675887"/>
            <a:ext cx="6446520" cy="0"/>
          </a:xfrm>
          <a:prstGeom prst="line">
            <a:avLst/>
          </a:prstGeom>
          <a:ln w="12700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85800" y="3886200"/>
            <a:ext cx="274320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06D66"/>
                </a:solidFill>
                <a:latin typeface="Aptos"/>
              </a:rPr>
              <a:t>PROJECT BY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142232"/>
            <a:ext cx="6126480" cy="3931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92824"/>
                </a:solidFill>
                <a:latin typeface="Aptos"/>
              </a:rPr>
              <a:t>Raman Darda  ·  25BCE0893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846320"/>
            <a:ext cx="274320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06D66"/>
                </a:solidFill>
                <a:latin typeface="Aptos"/>
              </a:rPr>
              <a:t>FACULTY GUIDE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111496"/>
            <a:ext cx="6126480" cy="3931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92824"/>
                </a:solidFill>
                <a:latin typeface="Aptos"/>
              </a:rPr>
              <a:t>Prof. Juhi Baroi</a:t>
            </a:r>
          </a:p>
        </p:txBody>
      </p:sp>
      <p:sp>
        <p:nvSpPr>
          <p:cNvPr id="12" name="Oval 11"/>
          <p:cNvSpPr/>
          <p:nvPr/>
        </p:nvSpPr>
        <p:spPr>
          <a:xfrm>
            <a:off x="8956548" y="544068"/>
            <a:ext cx="1874519" cy="1874519"/>
          </a:xfrm>
          <a:prstGeom prst="ellipse">
            <a:avLst/>
          </a:prstGeom>
          <a:noFill/>
          <a:ln w="25400">
            <a:solidFill>
              <a:srgbClr val="3837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217152" y="804672"/>
            <a:ext cx="1353312" cy="1353312"/>
          </a:xfrm>
          <a:prstGeom prst="ellipse">
            <a:avLst/>
          </a:prstGeom>
          <a:noFill/>
          <a:ln w="25400">
            <a:solidFill>
              <a:srgbClr val="4C4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482328" y="1069848"/>
            <a:ext cx="822960" cy="822960"/>
          </a:xfrm>
          <a:prstGeom prst="ellipse">
            <a:avLst/>
          </a:prstGeom>
          <a:noFill/>
          <a:ln w="25400">
            <a:solidFill>
              <a:srgbClr val="C85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2587752"/>
            <a:ext cx="3017520" cy="5943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8F5EF"/>
                </a:solidFill>
                <a:latin typeface="Aptos"/>
              </a:rPr>
              <a:t>FROM RAW SAMPLES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8F5EF"/>
                </a:solidFill>
                <a:latin typeface="Aptos"/>
              </a:rPr>
              <a:t>TO A CLEARER SIGNAL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10727" y="4261104"/>
            <a:ext cx="182880" cy="493776"/>
          </a:xfrm>
          <a:prstGeom prst="roundRect">
            <a:avLst>
              <a:gd name="adj" fmla="val 10000"/>
            </a:avLst>
          </a:prstGeom>
          <a:solidFill>
            <a:srgbClr val="C85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531352" y="3785616"/>
            <a:ext cx="182880" cy="969264"/>
          </a:xfrm>
          <a:prstGeom prst="roundRect">
            <a:avLst>
              <a:gd name="adj" fmla="val 10000"/>
            </a:avLst>
          </a:prstGeom>
          <a:solidFill>
            <a:srgbClr val="D99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951976" y="4078224"/>
            <a:ext cx="182880" cy="676656"/>
          </a:xfrm>
          <a:prstGeom prst="roundRect">
            <a:avLst>
              <a:gd name="adj" fmla="val 10000"/>
            </a:avLst>
          </a:prstGeom>
          <a:solidFill>
            <a:srgbClr val="718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372600" y="3529584"/>
            <a:ext cx="182880" cy="1225296"/>
          </a:xfrm>
          <a:prstGeom prst="roundRect">
            <a:avLst>
              <a:gd name="adj" fmla="val 10000"/>
            </a:avLst>
          </a:prstGeom>
          <a:solidFill>
            <a:srgbClr val="C85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793224" y="3968496"/>
            <a:ext cx="182880" cy="786384"/>
          </a:xfrm>
          <a:prstGeom prst="roundRect">
            <a:avLst>
              <a:gd name="adj" fmla="val 10000"/>
            </a:avLst>
          </a:prstGeom>
          <a:solidFill>
            <a:srgbClr val="D99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213848" y="3694176"/>
            <a:ext cx="182880" cy="1060704"/>
          </a:xfrm>
          <a:prstGeom prst="roundRect">
            <a:avLst>
              <a:gd name="adj" fmla="val 10000"/>
            </a:avLst>
          </a:prstGeom>
          <a:solidFill>
            <a:srgbClr val="718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634472" y="4187952"/>
            <a:ext cx="182880" cy="566928"/>
          </a:xfrm>
          <a:prstGeom prst="roundRect">
            <a:avLst>
              <a:gd name="adj" fmla="val 10000"/>
            </a:avLst>
          </a:prstGeom>
          <a:solidFill>
            <a:srgbClr val="C85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1055096" y="3840480"/>
            <a:ext cx="182880" cy="914400"/>
          </a:xfrm>
          <a:prstGeom prst="roundRect">
            <a:avLst>
              <a:gd name="adj" fmla="val 10000"/>
            </a:avLst>
          </a:prstGeom>
          <a:solidFill>
            <a:srgbClr val="D99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5138928"/>
            <a:ext cx="3474720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BDB7AE"/>
                </a:solidFill>
                <a:latin typeface="Aptos"/>
              </a:rPr>
              <a:t>Idea  ·  problem  ·  method  ·  plan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5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28600"/>
            <a:ext cx="9144000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8553D"/>
                </a:solidFill>
                <a:latin typeface="Aptos"/>
              </a:rPr>
              <a:t>01 /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76072"/>
            <a:ext cx="11064240" cy="6217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292824"/>
                </a:solidFill>
                <a:latin typeface="Aptos"/>
              </a:rPr>
              <a:t>A connection can feel slow before its cause is clear.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344168"/>
            <a:ext cx="11137392" cy="0"/>
          </a:xfrm>
          <a:prstGeom prst="line">
            <a:avLst/>
          </a:prstGeom>
          <a:ln w="12700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417320"/>
            <a:ext cx="1097280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06D66"/>
                </a:solidFill>
                <a:latin typeface="Aptos"/>
              </a:rPr>
              <a:t>The same symptom can come from different traffic patterns.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640080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06D66"/>
                </a:solidFill>
                <a:latin typeface="Aptos"/>
              </a:rPr>
              <a:t>BAMAT207  ·  PROBABILITY &amp; STATISTICS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510528"/>
            <a:ext cx="73152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06D66"/>
                </a:solidFill>
                <a:latin typeface="Aptos"/>
              </a:rPr>
              <a:t>02 /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965960"/>
            <a:ext cx="4206240" cy="10515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92824"/>
                </a:solidFill>
                <a:latin typeface="Aptos"/>
              </a:rPr>
              <a:t>“Why is the network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92824"/>
                </a:solidFill>
                <a:latin typeface="Aptos"/>
              </a:rPr>
              <a:t>slow right now?”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291840"/>
            <a:ext cx="4160520" cy="12801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706D66"/>
                </a:solidFill>
                <a:latin typeface="Aptos"/>
              </a:rPr>
              <a:t>A single usage total cannot tell us who used bandwidth, when demand peaked, or whether latency and packet loss rose at the same time.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330952" y="1874519"/>
            <a:ext cx="0" cy="3703321"/>
          </a:xfrm>
          <a:prstGeom prst="line">
            <a:avLst/>
          </a:prstGeom>
          <a:ln w="12700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687568" y="1847088"/>
            <a:ext cx="493776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8553D"/>
                </a:solidFill>
                <a:latin typeface="Apto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5936" y="1847088"/>
            <a:ext cx="429768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92824"/>
                </a:solidFill>
                <a:latin typeface="Aptos"/>
              </a:rPr>
              <a:t>WHO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5936" y="2139696"/>
            <a:ext cx="4983480" cy="3931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06D66"/>
                </a:solidFill>
                <a:latin typeface="Aptos"/>
              </a:rPr>
              <a:t>Which device or app is using the link?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87568" y="2743200"/>
            <a:ext cx="493776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8553D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5936" y="2743200"/>
            <a:ext cx="429768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92824"/>
                </a:solidFill>
                <a:latin typeface="Aptos"/>
              </a:rPr>
              <a:t>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5936" y="3035808"/>
            <a:ext cx="4983480" cy="3931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06D66"/>
                </a:solidFill>
                <a:latin typeface="Aptos"/>
              </a:rPr>
              <a:t>Are peaks tied to time of day or day of week?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87568" y="3639312"/>
            <a:ext cx="493776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8553D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5936" y="3639312"/>
            <a:ext cx="429768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92824"/>
                </a:solidFill>
                <a:latin typeface="Aptos"/>
              </a:rPr>
              <a:t>WHAT CHANGED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5936" y="3931920"/>
            <a:ext cx="4983480" cy="3931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06D66"/>
                </a:solidFill>
                <a:latin typeface="Aptos"/>
              </a:rPr>
              <a:t>Is a spike routine demand or an anomaly?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87568" y="4535424"/>
            <a:ext cx="493776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8553D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5936" y="4535424"/>
            <a:ext cx="429768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92824"/>
                </a:solidFill>
                <a:latin typeface="Aptos"/>
              </a:rPr>
              <a:t>WHAT NEXT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45936" y="4828032"/>
            <a:ext cx="4983480" cy="3931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06D66"/>
                </a:solidFill>
                <a:latin typeface="Aptos"/>
              </a:rPr>
              <a:t>Will demand approach available capacity?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5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28600"/>
            <a:ext cx="9144000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8553D"/>
                </a:solidFill>
                <a:latin typeface="Aptos"/>
              </a:rPr>
              <a:t>02 / PROJECT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76072"/>
            <a:ext cx="11064240" cy="6217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292824"/>
                </a:solidFill>
                <a:latin typeface="Aptos"/>
              </a:rPr>
              <a:t>Turn measurements into network decisions.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344168"/>
            <a:ext cx="11137392" cy="0"/>
          </a:xfrm>
          <a:prstGeom prst="line">
            <a:avLst/>
          </a:prstGeom>
          <a:ln w="12700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417320"/>
            <a:ext cx="1097280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06D66"/>
                </a:solidFill>
                <a:latin typeface="Aptos"/>
              </a:rPr>
              <a:t>Four questions organize the statistical study.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640080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06D66"/>
                </a:solidFill>
                <a:latin typeface="Aptos"/>
              </a:rPr>
              <a:t>BAMAT207  ·  PROBABILITY &amp; STATISTICS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510528"/>
            <a:ext cx="73152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06D66"/>
                </a:solidFill>
                <a:latin typeface="Aptos"/>
              </a:rPr>
              <a:t>03 / 10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1965960"/>
            <a:ext cx="54864" cy="1005840"/>
          </a:xfrm>
          <a:prstGeom prst="rect">
            <a:avLst/>
          </a:prstGeom>
          <a:solidFill>
            <a:srgbClr val="C85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1965960"/>
            <a:ext cx="457200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8553D"/>
                </a:solidFill>
                <a:latin typeface="Aptos"/>
              </a:rPr>
              <a:t>DESCRIBE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331720"/>
            <a:ext cx="4800600" cy="5943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92824"/>
                </a:solidFill>
                <a:latin typeface="Aptos"/>
              </a:rPr>
              <a:t>How does demand vary by hour, day, application and device?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72784" y="1965960"/>
            <a:ext cx="54864" cy="1005840"/>
          </a:xfrm>
          <a:prstGeom prst="rect">
            <a:avLst/>
          </a:prstGeom>
          <a:solidFill>
            <a:srgbClr val="D99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01384" y="1965960"/>
            <a:ext cx="457200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99A42"/>
                </a:solidFill>
                <a:latin typeface="Aptos"/>
              </a:rPr>
              <a:t>DETECT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1384" y="2331720"/>
            <a:ext cx="4800600" cy="5943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92824"/>
                </a:solidFill>
                <a:latin typeface="Aptos"/>
              </a:rPr>
              <a:t>Which usage intervals depart from their expected pattern?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" y="3538728"/>
            <a:ext cx="54864" cy="1005840"/>
          </a:xfrm>
          <a:prstGeom prst="rect">
            <a:avLst/>
          </a:prstGeom>
          <a:solidFill>
            <a:srgbClr val="718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3538728"/>
            <a:ext cx="457200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18970"/>
                </a:solidFill>
                <a:latin typeface="Aptos"/>
              </a:rPr>
              <a:t>FORECAST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" y="3904488"/>
            <a:ext cx="4800600" cy="5943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92824"/>
                </a:solidFill>
                <a:latin typeface="Aptos"/>
              </a:rPr>
              <a:t>How closely can recent history predict future demand?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72784" y="3538728"/>
            <a:ext cx="54864" cy="1005840"/>
          </a:xfrm>
          <a:prstGeom prst="rect">
            <a:avLst/>
          </a:prstGeom>
          <a:solidFill>
            <a:srgbClr val="C85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01384" y="3538728"/>
            <a:ext cx="457200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8553D"/>
                </a:solidFill>
                <a:latin typeface="Aptos"/>
              </a:rPr>
              <a:t>PLAN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1384" y="3904488"/>
            <a:ext cx="4800600" cy="5943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92824"/>
                </a:solidFill>
                <a:latin typeface="Aptos"/>
              </a:rPr>
              <a:t>When might demand put pressure on available capacity?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5330952"/>
            <a:ext cx="10744200" cy="502920"/>
          </a:xfrm>
          <a:prstGeom prst="roundRect">
            <a:avLst>
              <a:gd name="adj" fmla="val 10000"/>
            </a:avLst>
          </a:prstGeom>
          <a:solidFill>
            <a:srgbClr val="EE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5404104"/>
            <a:ext cx="1024128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92824"/>
                </a:solidFill>
                <a:latin typeface="Aptos"/>
              </a:rPr>
              <a:t>Aim: build an interpretable path from hourly measurements to evidence and capacity planning.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5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28600"/>
            <a:ext cx="9144000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8553D"/>
                </a:solidFill>
                <a:latin typeface="Aptos"/>
              </a:rPr>
              <a:t>03 / SYSTEM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76072"/>
            <a:ext cx="11064240" cy="6217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292824"/>
                </a:solidFill>
                <a:latin typeface="Aptos"/>
              </a:rPr>
              <a:t>A simple pipeline connects collection to insight.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344168"/>
            <a:ext cx="11137392" cy="0"/>
          </a:xfrm>
          <a:prstGeom prst="line">
            <a:avLst/>
          </a:prstGeom>
          <a:ln w="12700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417320"/>
            <a:ext cx="1097280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06D66"/>
                </a:solidFill>
                <a:latin typeface="Aptos"/>
              </a:rPr>
              <a:t>Each stage uses tools already present in the repository.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640080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06D66"/>
                </a:solidFill>
                <a:latin typeface="Aptos"/>
              </a:rPr>
              <a:t>BAMAT207  ·  PROBABILITY &amp; STATISTICS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510528"/>
            <a:ext cx="73152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06D66"/>
                </a:solidFill>
                <a:latin typeface="Aptos"/>
              </a:rPr>
              <a:t>04 /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194560"/>
            <a:ext cx="1938528" cy="11704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8E1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194560"/>
            <a:ext cx="1938528" cy="64008"/>
          </a:xfrm>
          <a:prstGeom prst="rect">
            <a:avLst/>
          </a:prstGeom>
          <a:solidFill>
            <a:srgbClr val="C85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2395728"/>
            <a:ext cx="169164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8553D"/>
                </a:solidFill>
                <a:latin typeface="Aptos"/>
              </a:rPr>
              <a:t>COLLECT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1755648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92824"/>
                </a:solidFill>
                <a:latin typeface="Aptos"/>
              </a:rPr>
              <a:t>psutil · ping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92824"/>
                </a:solidFill>
                <a:latin typeface="Aptos"/>
              </a:rPr>
              <a:t>scapy optional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14600" y="2779776"/>
            <a:ext cx="292608" cy="0"/>
          </a:xfrm>
          <a:prstGeom prst="line">
            <a:avLst/>
          </a:prstGeom>
          <a:ln w="16510">
            <a:solidFill>
              <a:srgbClr val="706D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542032" y="2542032"/>
            <a:ext cx="256032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8553D"/>
                </a:solidFill>
                <a:latin typeface="Aptos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89504" y="2194560"/>
            <a:ext cx="1938528" cy="11704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8E1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889504" y="2194560"/>
            <a:ext cx="1938528" cy="64008"/>
          </a:xfrm>
          <a:prstGeom prst="rect">
            <a:avLst/>
          </a:prstGeom>
          <a:solidFill>
            <a:srgbClr val="D99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08376" y="2395728"/>
            <a:ext cx="169164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99A42"/>
                </a:solidFill>
                <a:latin typeface="Aptos"/>
              </a:rPr>
              <a:t>STORE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80944" y="2743200"/>
            <a:ext cx="1755648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92824"/>
                </a:solidFill>
                <a:latin typeface="Aptos"/>
              </a:rPr>
              <a:t>SQLite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92824"/>
                </a:solidFill>
                <a:latin typeface="Aptos"/>
              </a:rPr>
              <a:t>structured tables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55464" y="2779776"/>
            <a:ext cx="292608" cy="0"/>
          </a:xfrm>
          <a:prstGeom prst="line">
            <a:avLst/>
          </a:prstGeom>
          <a:ln w="16510">
            <a:solidFill>
              <a:srgbClr val="706D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882896" y="2542032"/>
            <a:ext cx="256032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8553D"/>
                </a:solidFill>
                <a:latin typeface="Aptos"/>
              </a:rP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230368" y="2194560"/>
            <a:ext cx="1938528" cy="11704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8E1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230368" y="2194560"/>
            <a:ext cx="1938528" cy="64008"/>
          </a:xfrm>
          <a:prstGeom prst="rect">
            <a:avLst/>
          </a:prstGeom>
          <a:solidFill>
            <a:srgbClr val="718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49240" y="2395728"/>
            <a:ext cx="169164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18970"/>
                </a:solidFill>
                <a:latin typeface="Aptos"/>
              </a:rPr>
              <a:t>PREPARE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21807" y="2743200"/>
            <a:ext cx="1755648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92824"/>
                </a:solidFill>
                <a:latin typeface="Aptos"/>
              </a:rPr>
              <a:t>Python · Pandas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92824"/>
                </a:solidFill>
                <a:latin typeface="Aptos"/>
              </a:rPr>
              <a:t>NumPy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196327" y="2779776"/>
            <a:ext cx="292609" cy="0"/>
          </a:xfrm>
          <a:prstGeom prst="line">
            <a:avLst/>
          </a:prstGeom>
          <a:ln w="16510">
            <a:solidFill>
              <a:srgbClr val="706D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223760" y="2542032"/>
            <a:ext cx="256032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8553D"/>
                </a:solidFill>
                <a:latin typeface="Aptos"/>
              </a:rPr>
              <a:t>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71231" y="2194560"/>
            <a:ext cx="1938528" cy="11704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8E1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571231" y="2194560"/>
            <a:ext cx="1938528" cy="64008"/>
          </a:xfrm>
          <a:prstGeom prst="rect">
            <a:avLst/>
          </a:prstGeom>
          <a:solidFill>
            <a:srgbClr val="C85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90104" y="2395728"/>
            <a:ext cx="169164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8553D"/>
                </a:solidFill>
                <a:latin typeface="Aptos"/>
              </a:rPr>
              <a:t>MODEL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62671" y="2743200"/>
            <a:ext cx="1755648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92824"/>
                </a:solidFill>
                <a:latin typeface="Aptos"/>
              </a:rPr>
              <a:t>Scikit-learn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92824"/>
                </a:solidFill>
                <a:latin typeface="Aptos"/>
              </a:rPr>
              <a:t>Statsmodels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537192" y="2779776"/>
            <a:ext cx="292608" cy="0"/>
          </a:xfrm>
          <a:prstGeom prst="line">
            <a:avLst/>
          </a:prstGeom>
          <a:ln w="16510">
            <a:solidFill>
              <a:srgbClr val="706D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9564624" y="2542032"/>
            <a:ext cx="256032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8553D"/>
                </a:solidFill>
                <a:latin typeface="Aptos"/>
              </a:rPr>
              <a:t>›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912096" y="2194560"/>
            <a:ext cx="1938528" cy="11704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8E1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912096" y="2194560"/>
            <a:ext cx="1938528" cy="64008"/>
          </a:xfrm>
          <a:prstGeom prst="rect">
            <a:avLst/>
          </a:prstGeom>
          <a:solidFill>
            <a:srgbClr val="D99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30968" y="2395728"/>
            <a:ext cx="169164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99A42"/>
                </a:solidFill>
                <a:latin typeface="Aptos"/>
              </a:rPr>
              <a:t>PRESENT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03536" y="2743200"/>
            <a:ext cx="1755648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92824"/>
                </a:solidFill>
                <a:latin typeface="Aptos"/>
              </a:rPr>
              <a:t>Streamlit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92824"/>
                </a:solidFill>
                <a:latin typeface="Aptos"/>
              </a:rPr>
              <a:t>Plotly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" y="3767328"/>
            <a:ext cx="182880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8553D"/>
                </a:solidFill>
                <a:latin typeface="Aptos"/>
              </a:rPr>
              <a:t>INPUT DATA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03120" y="3730752"/>
            <a:ext cx="9006840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06D66"/>
                </a:solidFill>
                <a:latin typeface="Aptos"/>
              </a:rPr>
              <a:t>Simulated 90-day traffic (5 users, 8 devices, 12 apps) or local live counters; bytes, timestamps, latency, jitter and loss.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13232" y="4352544"/>
            <a:ext cx="10716768" cy="0"/>
          </a:xfrm>
          <a:prstGeom prst="line">
            <a:avLst/>
          </a:prstGeom>
          <a:ln w="12700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713232" y="4590288"/>
            <a:ext cx="214884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8553D"/>
                </a:solidFill>
                <a:latin typeface="Aptos"/>
              </a:rPr>
              <a:t>REPORTING &amp; ALERTS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3200" y="4544568"/>
            <a:ext cx="8686800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06D66"/>
                </a:solidFill>
                <a:latin typeface="Aptos"/>
              </a:rPr>
              <a:t>ReportLab exports PDF reports · Plyer can send desktop alerts · SQLite stores anomaly labels and forecast records.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13232" y="5303520"/>
            <a:ext cx="10744200" cy="530352"/>
          </a:xfrm>
          <a:prstGeom prst="roundRect">
            <a:avLst>
              <a:gd name="adj" fmla="val 10000"/>
            </a:avLst>
          </a:prstGeom>
          <a:solidFill>
            <a:srgbClr val="252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385816"/>
            <a:ext cx="1019556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8F5EF"/>
                </a:solidFill>
                <a:latin typeface="Aptos"/>
              </a:rPr>
              <a:t>STACK AT A GLANCE   Python · Streamlit · SQLite · Pandas · NumPy · scikit-learn · Statsmodels · Plotly · psutil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5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28600"/>
            <a:ext cx="9144000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8553D"/>
                </a:solidFill>
                <a:latin typeface="Aptos"/>
              </a:rPr>
              <a:t>04 / ANOMALIES — STATISTICAL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76072"/>
            <a:ext cx="11064240" cy="6217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292824"/>
                </a:solidFill>
                <a:latin typeface="Aptos"/>
              </a:rPr>
              <a:t>Z-score and IQR compare traffic with a seasonal baseline.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344168"/>
            <a:ext cx="11137392" cy="0"/>
          </a:xfrm>
          <a:prstGeom prst="line">
            <a:avLst/>
          </a:prstGeom>
          <a:ln w="12700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417320"/>
            <a:ext cx="1097280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06D66"/>
                </a:solidFill>
                <a:latin typeface="Aptos"/>
              </a:rPr>
              <a:t>The code groups by hour of day and weekday/weekend, then flags unusually high traffic.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640080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06D66"/>
                </a:solidFill>
                <a:latin typeface="Aptos"/>
              </a:rPr>
              <a:t>BAMAT207  ·  PROBABILITY &amp; STATISTICS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510528"/>
            <a:ext cx="73152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06D66"/>
                </a:solidFill>
                <a:latin typeface="Aptos"/>
              </a:rPr>
              <a:t>05 /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892807"/>
            <a:ext cx="196596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8553D"/>
                </a:solidFill>
                <a:latin typeface="Aptos"/>
              </a:rPr>
              <a:t>Z-SCORE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276856"/>
            <a:ext cx="5166360" cy="630936"/>
          </a:xfrm>
          <a:prstGeom prst="roundRect">
            <a:avLst>
              <a:gd name="adj" fmla="val 10000"/>
            </a:avLst>
          </a:prstGeom>
          <a:solidFill>
            <a:srgbClr val="EE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" y="2377440"/>
            <a:ext cx="466344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92824"/>
                </a:solidFill>
                <a:latin typeface="Aptos"/>
              </a:rPr>
              <a:t>z = (x − μ) / 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3035808"/>
            <a:ext cx="5047488" cy="5852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06D66"/>
                </a:solidFill>
                <a:latin typeface="Aptos"/>
              </a:rPr>
              <a:t>x = current Mbps; μ and σ = mean and standard deviation for its seasonal group.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730752"/>
            <a:ext cx="5047488" cy="6217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92824"/>
                </a:solidFill>
                <a:latin typeface="Aptos"/>
              </a:rPr>
              <a:t>Flag when z ≥ 2.5. Severity: info ≥2.5, warning ≥3.0, critical ≥4.5.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89904" y="1874519"/>
            <a:ext cx="0" cy="3520441"/>
          </a:xfrm>
          <a:prstGeom prst="line">
            <a:avLst/>
          </a:prstGeom>
          <a:ln w="12700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382512" y="1892807"/>
            <a:ext cx="196596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99A42"/>
                </a:solidFill>
                <a:latin typeface="Aptos"/>
              </a:rPr>
              <a:t>IQR FENCE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2276856"/>
            <a:ext cx="5074920" cy="630936"/>
          </a:xfrm>
          <a:prstGeom prst="roundRect">
            <a:avLst>
              <a:gd name="adj" fmla="val 10000"/>
            </a:avLst>
          </a:prstGeom>
          <a:solidFill>
            <a:srgbClr val="EE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2377440"/>
            <a:ext cx="461772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92824"/>
                </a:solidFill>
                <a:latin typeface="Aptos"/>
              </a:rPr>
              <a:t>IQR = Q₃ − Q₁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92824"/>
                </a:solidFill>
                <a:latin typeface="Aptos"/>
              </a:rPr>
              <a:t>Upper = Q₃ + 1.5 × IQR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1656" y="3246120"/>
            <a:ext cx="4974336" cy="6400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06D66"/>
                </a:solidFill>
                <a:latin typeface="Aptos"/>
              </a:rPr>
              <a:t>Q₁ and Q₃ are the 25th and 75th percentiles for that hour/weekend group.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1656" y="4005072"/>
            <a:ext cx="4974336" cy="6949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92824"/>
                </a:solidFill>
                <a:latin typeface="Aptos"/>
              </a:rPr>
              <a:t>Flag when x &gt; Upper. This implementation detects high spikes; it does not flag unusually low traffic.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074920"/>
            <a:ext cx="10698480" cy="557784"/>
          </a:xfrm>
          <a:prstGeom prst="roundRect">
            <a:avLst>
              <a:gd name="adj" fmla="val 10000"/>
            </a:avLst>
          </a:prstGeom>
          <a:solidFill>
            <a:srgbClr val="252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0976" y="5175504"/>
            <a:ext cx="1024128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8F5EF"/>
                </a:solidFill>
                <a:latin typeface="Aptos"/>
              </a:rPr>
              <a:t>Both are explainable statistical rules. Their thresholds control sensitivity; they do not learn from anomaly labels.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5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28600"/>
            <a:ext cx="9144000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8553D"/>
                </a:solidFill>
                <a:latin typeface="Aptos"/>
              </a:rPr>
              <a:t>05 / ANOMALIES — ISOLATION FOREST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76072"/>
            <a:ext cx="11064240" cy="6217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292824"/>
                </a:solidFill>
                <a:latin typeface="Aptos"/>
              </a:rPr>
              <a:t>Isolation Forest uses random splits to isolate unusual points.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344168"/>
            <a:ext cx="11137392" cy="0"/>
          </a:xfrm>
          <a:prstGeom prst="line">
            <a:avLst/>
          </a:prstGeom>
          <a:ln w="12700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417320"/>
            <a:ext cx="1097280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06D66"/>
                </a:solidFill>
                <a:latin typeface="Aptos"/>
              </a:rPr>
              <a:t>It is an unsupervised machine-learning method built from a mathematical isolation score.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640080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06D66"/>
                </a:solidFill>
                <a:latin typeface="Aptos"/>
              </a:rPr>
              <a:t>BAMAT207  ·  PROBABILITY &amp; STATISTICS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510528"/>
            <a:ext cx="73152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06D66"/>
                </a:solidFill>
                <a:latin typeface="Aptos"/>
              </a:rPr>
              <a:t>06 /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883664"/>
            <a:ext cx="484632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18970"/>
                </a:solidFill>
                <a:latin typeface="Aptos"/>
              </a:rPr>
              <a:t>FEATURES USED BY THIS 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295144"/>
            <a:ext cx="4937760" cy="6858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92824"/>
                </a:solidFill>
                <a:latin typeface="Aptos"/>
              </a:rPr>
              <a:t>Mbps · bytes up · bytes down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92824"/>
                </a:solidFill>
                <a:latin typeface="Aptos"/>
              </a:rPr>
              <a:t>hour of day · day of week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236976"/>
            <a:ext cx="4846320" cy="7863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06D66"/>
                </a:solidFill>
                <a:latin typeface="Aptos"/>
              </a:rPr>
              <a:t>Shorter average path to isolate a point implies it is more anomalous.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4187952"/>
            <a:ext cx="4992624" cy="658368"/>
          </a:xfrm>
          <a:prstGeom prst="roundRect">
            <a:avLst>
              <a:gd name="adj" fmla="val 10000"/>
            </a:avLst>
          </a:prstGeom>
          <a:solidFill>
            <a:srgbClr val="EE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4288536"/>
            <a:ext cx="4590288" cy="4480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92824"/>
                </a:solidFill>
                <a:latin typeface="Aptos"/>
              </a:rPr>
              <a:t>s(x,n) = 2^(−E[h(x)] / c(n))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4965192"/>
            <a:ext cx="4965192" cy="4023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06D66"/>
                </a:solidFill>
                <a:latin typeface="Aptos"/>
              </a:rPr>
              <a:t>Default contamination = 3%: a model setting, not measured accuracy.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35040" y="1874519"/>
            <a:ext cx="0" cy="3611881"/>
          </a:xfrm>
          <a:prstGeom prst="line">
            <a:avLst/>
          </a:prstGeom>
          <a:ln w="12700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355080" y="1883664"/>
            <a:ext cx="434340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8553D"/>
                </a:solidFill>
                <a:latin typeface="Aptos"/>
              </a:rPr>
              <a:t>VALIDATION AGAINST SYNTHETIC LABELS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313432"/>
            <a:ext cx="4956048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92824"/>
                </a:solidFill>
                <a:latin typeface="Aptos"/>
              </a:rPr>
              <a:t>Precision = TP / (TP + FP)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788920"/>
            <a:ext cx="4956048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92824"/>
                </a:solidFill>
                <a:latin typeface="Aptos"/>
              </a:rPr>
              <a:t>Recall = TP / (TP + FN)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3264408"/>
            <a:ext cx="4956048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92824"/>
                </a:solidFill>
                <a:latin typeface="Aptos"/>
              </a:rPr>
              <a:t>F1 = 2 × Precision × Recall / (Precision + Recall)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877056"/>
            <a:ext cx="4956048" cy="7498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06D66"/>
                </a:solidFill>
                <a:latin typeface="Aptos"/>
              </a:rPr>
              <a:t>TP: correctly flagged · FP: false alarm · FN: missed labeled event. Higher precision means fewer false alarms; higher recall means fewer misses.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4846320"/>
            <a:ext cx="4992624" cy="621792"/>
          </a:xfrm>
          <a:prstGeom prst="roundRect">
            <a:avLst>
              <a:gd name="adj" fmla="val 10000"/>
            </a:avLst>
          </a:prstGeom>
          <a:solidFill>
            <a:srgbClr val="EE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65392" y="4928616"/>
            <a:ext cx="457200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92824"/>
                </a:solidFill>
                <a:latin typeface="Aptos"/>
              </a:rPr>
              <a:t>Isolation score in code = −Scikit-learn decision_function(X)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5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28600"/>
            <a:ext cx="9144000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8553D"/>
                </a:solidFill>
                <a:latin typeface="Aptos"/>
              </a:rPr>
              <a:t>06 / FORECAST — TIME-SERIES 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76072"/>
            <a:ext cx="11064240" cy="6217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292824"/>
                </a:solidFill>
                <a:latin typeface="Aptos"/>
              </a:rPr>
              <a:t>Forecasting starts with an hourly Mbps series.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344168"/>
            <a:ext cx="11137392" cy="0"/>
          </a:xfrm>
          <a:prstGeom prst="line">
            <a:avLst/>
          </a:prstGeom>
          <a:ln w="12700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417320"/>
            <a:ext cx="1097280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06D66"/>
                </a:solidFill>
                <a:latin typeface="Aptos"/>
              </a:rPr>
              <a:t>Traffic is grouped by hour, then compared using a daily baseline and additive Holt–Winters.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640080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06D66"/>
                </a:solidFill>
                <a:latin typeface="Aptos"/>
              </a:rPr>
              <a:t>BAMAT207  ·  PROBABILITY &amp; STATISTICS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510528"/>
            <a:ext cx="73152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06D66"/>
                </a:solidFill>
                <a:latin typeface="Aptos"/>
              </a:rPr>
              <a:t>07 /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566928"/>
          </a:xfrm>
          <a:prstGeom prst="roundRect">
            <a:avLst>
              <a:gd name="adj" fmla="val 10000"/>
            </a:avLst>
          </a:prstGeom>
          <a:solidFill>
            <a:srgbClr val="EE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920240"/>
            <a:ext cx="10259568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92824"/>
                </a:solidFill>
                <a:latin typeface="Aptos"/>
              </a:rPr>
              <a:t>Mbps = (bytes_up + bytes_down) × 8 / (3,600 × 1,000,000)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660904"/>
            <a:ext cx="4846320" cy="2834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8553D"/>
                </a:solidFill>
                <a:latin typeface="Aptos"/>
              </a:rPr>
              <a:t>SEASONAL NAÏVE BASELINE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3063240"/>
            <a:ext cx="4846320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92824"/>
                </a:solidFill>
                <a:latin typeface="Aptos"/>
              </a:rPr>
              <a:t>ŷₜ = yₜ₋₂₄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3538728"/>
            <a:ext cx="4846320" cy="4846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06D66"/>
                </a:solidFill>
                <a:latin typeface="Aptos"/>
              </a:rPr>
              <a:t>Predict this hour using the observed value from 24 hours earlier.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35040" y="2615184"/>
            <a:ext cx="0" cy="2706624"/>
          </a:xfrm>
          <a:prstGeom prst="line">
            <a:avLst/>
          </a:prstGeom>
          <a:ln w="12700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355080" y="2660904"/>
            <a:ext cx="4846320" cy="2834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99A42"/>
                </a:solidFill>
                <a:latin typeface="Aptos"/>
              </a:rPr>
              <a:t>ADDITIVE HOLT–WINTERS · SEASON LENGTH m = 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3054096"/>
            <a:ext cx="4956048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92824"/>
                </a:solidFill>
                <a:latin typeface="Aptos"/>
              </a:rPr>
              <a:t>Level:  ℓₜ = α(yₜ − sₜ₋₂₄) + (1−α)(ℓₜ₋₁ + bₜ₋₁)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3529584"/>
            <a:ext cx="4956048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92824"/>
                </a:solidFill>
                <a:latin typeface="Aptos"/>
              </a:rPr>
              <a:t>Trend:  bₜ = β(ℓₜ − ℓₜ₋₁) + (1−β)bₜ₋₁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4005072"/>
            <a:ext cx="4956048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92824"/>
                </a:solidFill>
                <a:latin typeface="Aptos"/>
              </a:rPr>
              <a:t>Season: sₜ = γ(yₜ − ℓₜ) + (1−γ)sₜ₋₂₄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4489704"/>
            <a:ext cx="4956048" cy="3931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8553D"/>
                </a:solidFill>
                <a:latin typeface="Aptos"/>
              </a:rPr>
              <a:t>Forecast: ŷₜ₊ₕ = ℓₜ + h·bₜ + matching seasonal effect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4965192"/>
            <a:ext cx="493776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06D66"/>
                </a:solidFill>
                <a:latin typeface="Aptos"/>
              </a:rPr>
              <a:t>α, β, γ control update speed for level, trend and season.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394960"/>
            <a:ext cx="10698480" cy="393192"/>
          </a:xfrm>
          <a:prstGeom prst="roundRect">
            <a:avLst>
              <a:gd name="adj" fmla="val 10000"/>
            </a:avLst>
          </a:prstGeom>
          <a:solidFill>
            <a:srgbClr val="252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5431536"/>
            <a:ext cx="10259568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8F5EF"/>
                </a:solidFill>
                <a:latin typeface="Aptos"/>
              </a:rPr>
              <a:t>“Additive” means level + trend + seasonal effect. This is time-series smoothing, not a straight-line regression equation.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5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28600"/>
            <a:ext cx="9144000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8553D"/>
                </a:solidFill>
                <a:latin typeface="Aptos"/>
              </a:rPr>
              <a:t>07 / FORECAST — REGRESSION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76072"/>
            <a:ext cx="11064240" cy="6217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292824"/>
                </a:solidFill>
                <a:latin typeface="Aptos"/>
              </a:rPr>
              <a:t>Gradient Boosting learns patterns from lag and calendar features.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344168"/>
            <a:ext cx="11137392" cy="0"/>
          </a:xfrm>
          <a:prstGeom prst="line">
            <a:avLst/>
          </a:prstGeom>
          <a:ln w="12700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417320"/>
            <a:ext cx="1097280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06D66"/>
                </a:solidFill>
                <a:latin typeface="Aptos"/>
              </a:rPr>
              <a:t>The dashboard uses this model to produce the next 24-hour forecast.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640080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06D66"/>
                </a:solidFill>
                <a:latin typeface="Aptos"/>
              </a:rPr>
              <a:t>BAMAT207  ·  PROBABILITY &amp; STATISTICS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510528"/>
            <a:ext cx="73152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06D66"/>
                </a:solidFill>
                <a:latin typeface="Aptos"/>
              </a:rPr>
              <a:t>08 /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847088"/>
            <a:ext cx="4892040" cy="2834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18970"/>
                </a:solidFill>
                <a:latin typeface="Aptos"/>
              </a:rPr>
              <a:t>FEATURE VECTOR xₜ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231136"/>
            <a:ext cx="5010912" cy="8686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92824"/>
                </a:solidFill>
                <a:latin typeface="Aptos"/>
              </a:rPr>
              <a:t>lag₁, lag₂, lag₂₄ · rolling mean/std (24h)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92824"/>
                </a:solidFill>
                <a:latin typeface="Aptos"/>
              </a:rPr>
              <a:t>hour of day · weekday · weekend flag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3282696"/>
            <a:ext cx="5010912" cy="704088"/>
          </a:xfrm>
          <a:prstGeom prst="roundRect">
            <a:avLst>
              <a:gd name="adj" fmla="val 10000"/>
            </a:avLst>
          </a:prstGeom>
          <a:solidFill>
            <a:srgbClr val="EE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392424"/>
            <a:ext cx="4590288" cy="4480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92824"/>
                </a:solidFill>
                <a:latin typeface="Aptos"/>
              </a:rPr>
              <a:t>Fₘ(x) = Fₘ₋₁(x) + ηhₘ(x)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4123944"/>
            <a:ext cx="4956048" cy="6858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06D66"/>
                </a:solidFill>
                <a:latin typeface="Aptos"/>
              </a:rPr>
              <a:t>Each added decision tree hₘ corrects patterns left in earlier predictions. The model is HistGradientBoostingRegressor.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35040" y="1828800"/>
            <a:ext cx="0" cy="3429000"/>
          </a:xfrm>
          <a:prstGeom prst="line">
            <a:avLst/>
          </a:prstGeom>
          <a:ln w="12700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355080" y="1847088"/>
            <a:ext cx="4846320" cy="2834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8553D"/>
                </a:solidFill>
                <a:latin typeface="Aptos"/>
              </a:rPr>
              <a:t>FORECAST BAND &amp; CAPACITY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2258568"/>
            <a:ext cx="4919472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92824"/>
                </a:solidFill>
                <a:latin typeface="Aptos"/>
              </a:rPr>
              <a:t>Lower / upper = ŷ ± 1.96σ₇₂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2752344"/>
            <a:ext cx="4919472" cy="7040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06D66"/>
                </a:solidFill>
                <a:latin typeface="Aptos"/>
              </a:rPr>
              <a:t>σ₇₂ is the standard deviation of recent 72-hour traffic; lower bound is clipped at zero.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3648456"/>
            <a:ext cx="4919472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92824"/>
                </a:solidFill>
                <a:latin typeface="Aptos"/>
              </a:rPr>
              <a:t>Capacity warning if ŷ ≥ 0.85 × link capacity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4133087"/>
            <a:ext cx="4919472" cy="7040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8553D"/>
                </a:solidFill>
                <a:latin typeface="Aptos"/>
              </a:rPr>
              <a:t>The band is a recent-volatility estimate, not a calibrated 95% model confidence interval.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5093208"/>
            <a:ext cx="10698480" cy="530352"/>
          </a:xfrm>
          <a:prstGeom prst="roundRect">
            <a:avLst>
              <a:gd name="adj" fmla="val 10000"/>
            </a:avLst>
          </a:prstGeom>
          <a:solidFill>
            <a:srgbClr val="EE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5175504"/>
            <a:ext cx="1014984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92824"/>
                </a:solidFill>
                <a:latin typeface="Aptos"/>
              </a:rPr>
              <a:t>Validation uses the final 168 hours (7 days) as a time-ordered holdout; earlier hours train the models.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5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28600"/>
            <a:ext cx="9144000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8553D"/>
                </a:solidFill>
                <a:latin typeface="Aptos"/>
              </a:rPr>
              <a:t>08 / FORECAST —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76072"/>
            <a:ext cx="11064240" cy="6217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292824"/>
                </a:solidFill>
                <a:latin typeface="Aptos"/>
              </a:rPr>
              <a:t>Use error metrics and R² to describe forecast quality.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344168"/>
            <a:ext cx="11137392" cy="0"/>
          </a:xfrm>
          <a:prstGeom prst="line">
            <a:avLst/>
          </a:prstGeom>
          <a:ln w="12700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417320"/>
            <a:ext cx="1097280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06D66"/>
                </a:solidFill>
                <a:latin typeface="Aptos"/>
              </a:rPr>
              <a:t>Lower error is better; R² describes fit relative to predicting the test-set mean.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640080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06D66"/>
                </a:solidFill>
                <a:latin typeface="Aptos"/>
              </a:rPr>
              <a:t>BAMAT207  ·  PROBABILITY &amp; STATISTICS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510528"/>
            <a:ext cx="73152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06D66"/>
                </a:solidFill>
                <a:latin typeface="Aptos"/>
              </a:rPr>
              <a:t>09 /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847088"/>
            <a:ext cx="5010912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8553D"/>
                </a:solidFill>
                <a:latin typeface="Aptos"/>
              </a:rPr>
              <a:t>ERROR METRICS · y = actual, ŷ = predicted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493776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92824"/>
                </a:solidFill>
                <a:latin typeface="Aptos"/>
              </a:rPr>
              <a:t>MAE  = (1/n) Σ |yᵢ − ŷᵢ|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862072"/>
            <a:ext cx="493776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92824"/>
                </a:solidFill>
                <a:latin typeface="Aptos"/>
              </a:rPr>
              <a:t>RMSE = √[(1/n) Σ (yᵢ − ŷᵢ)²]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438144"/>
            <a:ext cx="4937760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92824"/>
                </a:solidFill>
                <a:latin typeface="Aptos"/>
              </a:rPr>
              <a:t>MAPE = (100/n) Σ |(yᵢ − ŷᵢ) / yᵢ|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069080"/>
            <a:ext cx="4937760" cy="6400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06D66"/>
                </a:solidFill>
                <a:latin typeface="Aptos"/>
              </a:rPr>
              <a:t>MAE: average miss in Mbps · RMSE penalizes large misses · MAPE expresses miss as a percent (undefined at actual zero).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35040" y="1828800"/>
            <a:ext cx="0" cy="3456432"/>
          </a:xfrm>
          <a:prstGeom prst="line">
            <a:avLst/>
          </a:prstGeom>
          <a:ln w="12700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355080" y="1847088"/>
            <a:ext cx="484632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18970"/>
                </a:solidFill>
                <a:latin typeface="Aptos"/>
              </a:rPr>
              <a:t>COEFFICIENT OF DETERMINATION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2286000"/>
            <a:ext cx="4983480" cy="658368"/>
          </a:xfrm>
          <a:prstGeom prst="roundRect">
            <a:avLst>
              <a:gd name="adj" fmla="val 10000"/>
            </a:avLst>
          </a:prstGeom>
          <a:solidFill>
            <a:srgbClr val="EE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19672" y="2395728"/>
            <a:ext cx="4645152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92824"/>
                </a:solidFill>
                <a:latin typeface="Aptos"/>
              </a:rPr>
              <a:t>R² = 1 − Σ(yᵢ−ŷᵢ)² / Σ(yᵢ−ȳ)²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3136392"/>
            <a:ext cx="4937760" cy="5669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06D66"/>
                </a:solidFill>
                <a:latin typeface="Aptos"/>
              </a:rPr>
              <a:t>R² = 1 means a perfect match on this test set; R² = 0 matches the mean-only baseline.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3840480"/>
            <a:ext cx="4937760" cy="4114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8553D"/>
                </a:solidFill>
                <a:latin typeface="Aptos"/>
              </a:rPr>
              <a:t>PROJECT TARGET: R² &gt; 0.85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4288536"/>
            <a:ext cx="4937760" cy="5943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92824"/>
                </a:solidFill>
                <a:latin typeface="Aptos"/>
              </a:rPr>
              <a:t>To be added and measured later. It is not currently calculated by the forecast page and is not a result yet.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8" y="5148072"/>
            <a:ext cx="10588752" cy="484632"/>
          </a:xfrm>
          <a:prstGeom prst="roundRect">
            <a:avLst>
              <a:gd name="adj" fmla="val 10000"/>
            </a:avLst>
          </a:prstGeom>
          <a:solidFill>
            <a:srgbClr val="252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976" y="5230368"/>
            <a:ext cx="10168128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8F5EF"/>
                </a:solidFill>
                <a:latin typeface="Aptos"/>
              </a:rPr>
              <a:t>Important: high R² alone does not guarantee small forecast errors or prove the model will generalize.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5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28600"/>
            <a:ext cx="9144000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8553D"/>
                </a:solidFill>
                <a:latin typeface="Aptos"/>
              </a:rPr>
              <a:t>09 / REVIEW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76072"/>
            <a:ext cx="11064240" cy="6217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292824"/>
                </a:solidFill>
                <a:latin typeface="Aptos"/>
              </a:rPr>
              <a:t>From proposal to tested results in three reviews.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344168"/>
            <a:ext cx="11137392" cy="0"/>
          </a:xfrm>
          <a:prstGeom prst="line">
            <a:avLst/>
          </a:prstGeom>
          <a:ln w="12700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417320"/>
            <a:ext cx="1097280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06D66"/>
                </a:solidFill>
                <a:latin typeface="Aptos"/>
              </a:rPr>
              <a:t>This first review establishes the mathematical approach and implementation map.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640080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06D66"/>
                </a:solidFill>
                <a:latin typeface="Aptos"/>
              </a:rPr>
              <a:t>BAMAT207  ·  PROBABILITY &amp; STATISTICS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510528"/>
            <a:ext cx="73152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06D66"/>
                </a:solidFill>
                <a:latin typeface="Aptos"/>
              </a:rPr>
              <a:t>10 / 10</a:t>
            </a:r>
          </a:p>
        </p:txBody>
      </p:sp>
      <p:sp>
        <p:nvSpPr>
          <p:cNvPr id="9" name="Rectangle 8"/>
          <p:cNvSpPr/>
          <p:nvPr/>
        </p:nvSpPr>
        <p:spPr>
          <a:xfrm>
            <a:off x="722376" y="2249424"/>
            <a:ext cx="2944368" cy="54864"/>
          </a:xfrm>
          <a:prstGeom prst="rect">
            <a:avLst/>
          </a:prstGeom>
          <a:solidFill>
            <a:srgbClr val="C85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6" y="2505456"/>
            <a:ext cx="306324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8553D"/>
                </a:solidFill>
                <a:latin typeface="Aptos"/>
              </a:rPr>
              <a:t>REVIEW 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" y="2953512"/>
            <a:ext cx="3200400" cy="5486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92824"/>
                </a:solidFill>
                <a:latin typeface="Aptos"/>
              </a:rPr>
              <a:t>Idea · formulas ·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" y="3675887"/>
            <a:ext cx="3154680" cy="9326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06D66"/>
                </a:solidFill>
                <a:latin typeface="Aptos"/>
              </a:rPr>
              <a:t>Define the problem, methods, tech stack and evaluation plan.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62856" y="2249424"/>
            <a:ext cx="2944368" cy="54864"/>
          </a:xfrm>
          <a:prstGeom prst="rect">
            <a:avLst/>
          </a:prstGeom>
          <a:solidFill>
            <a:srgbClr val="D99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62856" y="2505456"/>
            <a:ext cx="306324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99A42"/>
                </a:solidFill>
                <a:latin typeface="Aptos"/>
              </a:rPr>
              <a:t>REVIEW 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2856" y="2953512"/>
            <a:ext cx="3200400" cy="5486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92824"/>
                </a:solidFill>
                <a:latin typeface="Aptos"/>
              </a:rPr>
              <a:t>Implementation · 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2856" y="3675887"/>
            <a:ext cx="3154680" cy="9326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06D66"/>
                </a:solidFill>
                <a:latin typeface="Aptos"/>
              </a:rPr>
              <a:t>Show working screens, calculate metrics and tune methods.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03336" y="2249424"/>
            <a:ext cx="2944368" cy="54864"/>
          </a:xfrm>
          <a:prstGeom prst="rect">
            <a:avLst/>
          </a:prstGeom>
          <a:solidFill>
            <a:srgbClr val="718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03336" y="2505456"/>
            <a:ext cx="306324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18970"/>
                </a:solidFill>
                <a:latin typeface="Aptos"/>
              </a:rPr>
              <a:t>REVIEW 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03336" y="2953512"/>
            <a:ext cx="3200400" cy="5486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92824"/>
                </a:solidFill>
                <a:latin typeface="Aptos"/>
              </a:rPr>
              <a:t>Validation · conclusion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03336" y="3675887"/>
            <a:ext cx="3154680" cy="9326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06D66"/>
                </a:solidFill>
                <a:latin typeface="Aptos"/>
              </a:rPr>
              <a:t>Compare results, explain limits and present findings.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4956048"/>
            <a:ext cx="10744200" cy="704088"/>
          </a:xfrm>
          <a:prstGeom prst="roundRect">
            <a:avLst>
              <a:gd name="adj" fmla="val 10000"/>
            </a:avLst>
          </a:prstGeom>
          <a:solidFill>
            <a:srgbClr val="EE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5056632"/>
            <a:ext cx="10195560" cy="4846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92824"/>
                </a:solidFill>
                <a:latin typeface="Aptos"/>
              </a:rPr>
              <a:t>DATA NOTE   Simulator = labeled, repeatable study data. Live capture = local measurements; short live history cannot support the 7-day holdout evaluation yet.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" y="5779008"/>
            <a:ext cx="10744200" cy="365760"/>
          </a:xfrm>
          <a:prstGeom prst="roundRect">
            <a:avLst>
              <a:gd name="adj" fmla="val 10000"/>
            </a:avLst>
          </a:prstGeom>
          <a:solidFill>
            <a:srgbClr val="252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5806440"/>
            <a:ext cx="1019556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8F5EF"/>
                </a:solidFill>
                <a:latin typeface="Aptos"/>
              </a:rPr>
              <a:t>Measure  →  explain  →  anticipate  →  plan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