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C8553D"/>
                </a:solidFill>
                <a:latin typeface="Aptos"/>
              </a:rPr>
              <a:t>PROJECT UPDATE  /  REVIEW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649224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400" b="1">
                <a:solidFill>
                  <a:srgbClr val="292824"/>
                </a:solidFill>
                <a:latin typeface="Aptos"/>
              </a:rPr>
              <a:t>From project design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400" b="1">
                <a:solidFill>
                  <a:srgbClr val="292824"/>
                </a:solidFill>
                <a:latin typeface="Aptos"/>
              </a:rPr>
              <a:t>to a working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6309360" cy="7863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0">
                <a:solidFill>
                  <a:srgbClr val="706D66"/>
                </a:solidFill>
                <a:latin typeface="Aptos"/>
              </a:rPr>
              <a:t>Implementation progress, local telemetry and the next validation steps.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3675887"/>
            <a:ext cx="64465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3913632"/>
            <a:ext cx="2743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PROJECT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60520"/>
            <a:ext cx="6126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292824"/>
                </a:solidFill>
                <a:latin typeface="Aptos"/>
              </a:rPr>
              <a:t>Raman Darda  ·  25BCE0893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64608"/>
            <a:ext cx="2743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FACULTY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11496"/>
            <a:ext cx="6126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292824"/>
                </a:solidFill>
                <a:latin typeface="Aptos"/>
              </a:rPr>
              <a:t>Prof. Juhi Baroi</a:t>
            </a:r>
          </a:p>
        </p:txBody>
      </p:sp>
      <p:sp>
        <p:nvSpPr>
          <p:cNvPr id="12" name="Oval 11"/>
          <p:cNvSpPr/>
          <p:nvPr/>
        </p:nvSpPr>
        <p:spPr>
          <a:xfrm>
            <a:off x="8956548" y="544068"/>
            <a:ext cx="1874519" cy="1874519"/>
          </a:xfrm>
          <a:prstGeom prst="ellipse">
            <a:avLst/>
          </a:prstGeom>
          <a:noFill/>
          <a:ln w="25400">
            <a:solidFill>
              <a:srgbClr val="38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17152" y="804672"/>
            <a:ext cx="1353312" cy="1353312"/>
          </a:xfrm>
          <a:prstGeom prst="ellipse">
            <a:avLst/>
          </a:prstGeom>
          <a:noFill/>
          <a:ln w="25400">
            <a:solidFill>
              <a:srgbClr val="4C4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82328" y="1069848"/>
            <a:ext cx="822960" cy="822960"/>
          </a:xfrm>
          <a:prstGeom prst="ellipse">
            <a:avLst/>
          </a:prstGeom>
          <a:noFill/>
          <a:ln w="254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587752"/>
            <a:ext cx="30175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F8F5EF"/>
                </a:solidFill>
                <a:latin typeface="Aptos"/>
              </a:rPr>
              <a:t>MEASURE  ·  EXPLAIN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F8F5EF"/>
                </a:solidFill>
                <a:latin typeface="Aptos"/>
              </a:rPr>
              <a:t>ANTICIPATE  · 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4261104"/>
            <a:ext cx="182880" cy="493776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31352" y="3785616"/>
            <a:ext cx="182880" cy="969264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51976" y="4078224"/>
            <a:ext cx="182880" cy="676656"/>
          </a:xfrm>
          <a:prstGeom prst="roundRect">
            <a:avLst>
              <a:gd name="adj" fmla="val 10000"/>
            </a:avLst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72600" y="3529584"/>
            <a:ext cx="182880" cy="1225296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93224" y="3968496"/>
            <a:ext cx="182880" cy="786384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13848" y="3694176"/>
            <a:ext cx="182880" cy="1060704"/>
          </a:xfrm>
          <a:prstGeom prst="roundRect">
            <a:avLst>
              <a:gd name="adj" fmla="val 10000"/>
            </a:avLst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634472" y="4187952"/>
            <a:ext cx="182880" cy="566928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055096" y="3840480"/>
            <a:ext cx="182880" cy="914400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138928"/>
            <a:ext cx="34747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BDB7AE"/>
                </a:solidFill>
                <a:latin typeface="Aptos"/>
              </a:rPr>
              <a:t>Review 2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01 /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292824"/>
                </a:solidFill>
                <a:latin typeface="Aptos"/>
              </a:rPr>
              <a:t>The main product workflow is implemented.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This review shifts from the proposed design to the working codebase.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02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93392"/>
            <a:ext cx="2395728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1">
                <a:solidFill>
                  <a:srgbClr val="C8553D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70632"/>
            <a:ext cx="2395728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292824"/>
                </a:solidFill>
                <a:latin typeface="Aptos"/>
              </a:rPr>
              <a:t>analysis and settings pages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3566160"/>
            <a:ext cx="23317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29584" y="1993392"/>
            <a:ext cx="2395728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1">
                <a:solidFill>
                  <a:srgbClr val="D99A42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770632"/>
            <a:ext cx="2395728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292824"/>
                </a:solidFill>
                <a:latin typeface="Aptos"/>
              </a:rPr>
              <a:t>anomaly detection methods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9584" y="3566160"/>
            <a:ext cx="23317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45936" y="1993392"/>
            <a:ext cx="2395728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1">
                <a:solidFill>
                  <a:srgbClr val="718970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770632"/>
            <a:ext cx="2395728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292824"/>
                </a:solidFill>
                <a:latin typeface="Aptos"/>
              </a:rPr>
              <a:t>forecasting approaches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45936" y="3566160"/>
            <a:ext cx="23317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62288" y="1993392"/>
            <a:ext cx="2395728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1">
                <a:solidFill>
                  <a:srgbClr val="C8553D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770632"/>
            <a:ext cx="2395728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292824"/>
                </a:solidFill>
                <a:latin typeface="Aptos"/>
              </a:rPr>
              <a:t>local SQLite telemetry store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62288" y="3566160"/>
            <a:ext cx="23317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8" y="3977639"/>
            <a:ext cx="1207008" cy="292608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77639"/>
            <a:ext cx="120700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977639"/>
            <a:ext cx="8961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Collectors · dashboards · anomaly alerts · forecasting · 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489704"/>
            <a:ext cx="1207008" cy="292608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489704"/>
            <a:ext cx="120700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CONNECTED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489704"/>
            <a:ext cx="8961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SQLite repository · analytics modules · Streamlit interface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001768"/>
            <a:ext cx="1207008" cy="292608"/>
          </a:xfrm>
          <a:prstGeom prst="roundRect">
            <a:avLst>
              <a:gd name="adj" fmla="val 10000"/>
            </a:avLst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001768"/>
            <a:ext cx="120700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001768"/>
            <a:ext cx="8961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Repeatable evaluation · user-facing validation · operational hardening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532120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C8553D"/>
                </a:solidFill>
                <a:latin typeface="Aptos"/>
              </a:rPr>
              <a:t>FEATURE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779008"/>
            <a:ext cx="10607040" cy="4297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706D66"/>
                </a:solidFill>
                <a:latin typeface="Aptos"/>
              </a:rPr>
              <a:t>Live sampling, application and device breakdowns, time-of-day analysis, upload/download comparison, anomaly alerts, forecasts, congestion what-if, efficiency advice, budgets, replay and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02 / LOCAL DATA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292824"/>
                </a:solidFill>
                <a:latin typeface="Aptos"/>
              </a:rPr>
              <a:t>The project database contains a usable telemetry history.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Counts below are a local database snapshot, not a benchmark or a claim about all deployments.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03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3291840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000" b="1">
                <a:solidFill>
                  <a:srgbClr val="C8553D"/>
                </a:solidFill>
                <a:latin typeface="Aptos"/>
              </a:rPr>
              <a:t>373,345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52928"/>
            <a:ext cx="3291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traffic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148840"/>
            <a:ext cx="3291840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000" b="1">
                <a:solidFill>
                  <a:srgbClr val="D99A42"/>
                </a:solidFill>
                <a:latin typeface="Aptos"/>
              </a:rPr>
              <a:t>14,970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852928"/>
            <a:ext cx="3291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network metric samples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148840"/>
            <a:ext cx="3291840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000" b="1">
                <a:solidFill>
                  <a:srgbClr val="718970"/>
                </a:solidFill>
                <a:latin typeface="Aptos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852928"/>
            <a:ext cx="3291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labelled anomaly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822191"/>
            <a:ext cx="10698480" cy="694944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904487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292824"/>
                </a:solidFill>
                <a:latin typeface="Aptos"/>
              </a:rPr>
              <a:t>Recorded traffic window:  2026-07-09 to 2026-10-07     ·     Database setting: live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1051560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706D66"/>
                </a:solidFill>
                <a:latin typeface="Aptos"/>
              </a:rPr>
              <a:t>What this shows: there is historical data to explore. What it does not show: detector accuracy, forecast quality, or that a proposed network change improved service.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577840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C8553D"/>
                </a:solidFill>
                <a:latin typeface="Aptos"/>
              </a:rPr>
              <a:t>HOW TO READ THE 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824727"/>
            <a:ext cx="10607040" cy="4297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706D66"/>
                </a:solidFill>
                <a:latin typeface="Aptos"/>
              </a:rPr>
              <a:t>Traffic rows are event-level records; metric rows hold network-quality observations; labelled events are simulator ground truth. Counts can include gaps and should be checked for coverage before model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03 / DATA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292824"/>
                </a:solidFill>
                <a:latin typeface="Aptos"/>
              </a:rPr>
              <a:t>Measurements move through five clear stages.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Each stage has a corresponding implementation in the repository.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04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31720"/>
            <a:ext cx="19202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331720"/>
            <a:ext cx="1920240" cy="6400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C8553D"/>
                </a:solidFill>
                <a:latin typeface="Aptos"/>
              </a:rP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98648"/>
            <a:ext cx="1700784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psutil counters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process mapping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ping probe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2816352"/>
            <a:ext cx="274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6" y="2331720"/>
            <a:ext cx="19202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71216" y="2331720"/>
            <a:ext cx="1920240" cy="64008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0944" y="2514600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D99A42"/>
                </a:solidFill>
                <a:latin typeface="Aptos"/>
              </a:rPr>
              <a:t>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44" y="2898648"/>
            <a:ext cx="1700784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SQLite tables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parameterized queries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retention roll-up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2816352"/>
            <a:ext cx="274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2331720"/>
            <a:ext cx="19202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0" y="2331720"/>
            <a:ext cx="1920240" cy="64008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2514600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718970"/>
                </a:solidFill>
                <a:latin typeface="Aptos"/>
              </a:rP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2898648"/>
            <a:ext cx="1700784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Pandas summaries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time and app views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ML pipelines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816352"/>
            <a:ext cx="274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52944" y="2331720"/>
            <a:ext cx="19202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52944" y="2331720"/>
            <a:ext cx="1920240" cy="6400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1" y="2514600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C8553D"/>
                </a:solidFill>
                <a:latin typeface="Aptos"/>
              </a:rPr>
              <a:t>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2898648"/>
            <a:ext cx="1700784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alerts and budgets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capacity scenarios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recommendations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2816352"/>
            <a:ext cx="274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93808" y="2331720"/>
            <a:ext cx="19202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93808" y="2331720"/>
            <a:ext cx="1920240" cy="64008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03536" y="2514600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D99A42"/>
                </a:solidFill>
                <a:latin typeface="Aptos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3536" y="2898648"/>
            <a:ext cx="1700784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Streamlit pages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HTML / PDF reports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replay mode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407408"/>
            <a:ext cx="10744200" cy="576072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498848"/>
            <a:ext cx="102412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F8F5EF"/>
                </a:solidFill>
                <a:latin typeface="Aptos"/>
              </a:rPr>
              <a:t>The same pipeline accepts live system measurements or controlled simulated telemetry.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257800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C8553D"/>
                </a:solidFill>
                <a:latin typeface="Aptos"/>
              </a:rPr>
              <a:t>DATA STORED FOR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504688"/>
            <a:ext cx="10607040" cy="4297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706D66"/>
                </a:solidFill>
                <a:latin typeface="Aptos"/>
              </a:rPr>
              <a:t>The schema links timestamps and byte totals to devices, applications and sessions, with separate network metrics, alerts, forecasts, settings and hourly aggregates.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04 /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292824"/>
                </a:solidFill>
                <a:latin typeface="Aptos"/>
              </a:rPr>
              <a:t>Live view ties traffic to process and link quality.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The collector samples locally; it does not decrypt encrypted network payloads.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05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C8553D"/>
                </a:solidFill>
                <a:latin typeface="Aptos"/>
              </a:rPr>
              <a:t>TRAFFIC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487168"/>
            <a:ext cx="3063240" cy="0"/>
          </a:xfrm>
          <a:prstGeom prst="line">
            <a:avLst/>
          </a:prstGeom>
          <a:ln w="25400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724912"/>
            <a:ext cx="3154680" cy="1389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Per-interface byte counters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Upload and download rate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Two-second live 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103120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D99A42"/>
                </a:solidFill>
                <a:latin typeface="Aptos"/>
              </a:rPr>
              <a:t>PROCESS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35424" y="2487168"/>
            <a:ext cx="3063240" cy="0"/>
          </a:xfrm>
          <a:prstGeom prst="line">
            <a:avLst/>
          </a:prstGeom>
          <a:ln w="25400">
            <a:solidFill>
              <a:srgbClr val="D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35424" y="2724912"/>
            <a:ext cx="3154680" cy="1389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Local socket-to-process mapping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PID and application attribution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Best-effort when permissions allow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718970"/>
                </a:solidFill>
                <a:latin typeface="Aptos"/>
              </a:rPr>
              <a:t>QUALITY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2487168"/>
            <a:ext cx="3063240" cy="0"/>
          </a:xfrm>
          <a:prstGeom prst="line">
            <a:avLst/>
          </a:prstGeom>
          <a:ln w="25400">
            <a:solidFill>
              <a:srgbClr val="718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21040" y="2724912"/>
            <a:ext cx="3154680" cy="1389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Round-trip latency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Jitter and packet loss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Optional packet-level probe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709160"/>
            <a:ext cx="10652760" cy="640080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800600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292824"/>
                </a:solidFill>
                <a:latin typeface="Aptos"/>
              </a:rPr>
              <a:t>If raw packet capture is unavailable, the app falls back to operating-system connection metadata.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04688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C8553D"/>
                </a:solidFill>
                <a:latin typeface="Aptos"/>
              </a:rPr>
              <a:t>WHAT THE MEASURES MEAN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751575"/>
            <a:ext cx="10607040" cy="4297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706D66"/>
                </a:solidFill>
                <a:latin typeface="Aptos"/>
              </a:rPr>
              <a:t>Throughput comes from transferred bytes over elapsed time. Latency is round-trip delay; jitter summarizes variation in delay; packet loss records unanswered probes. Process names identify local software, not encrypted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05 /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292824"/>
                </a:solidFill>
                <a:latin typeface="Aptos"/>
              </a:rPr>
              <a:t>The dashboard turns raw counts into useful comparisons.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The feature set answers who used the link, when demand rose, and how traffic 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06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65960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C8553D"/>
                </a:solidFill>
                <a:latin typeface="Aptos"/>
              </a:rP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1938528"/>
            <a:ext cx="30175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Rank consumers, categories and usage over time.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2706624"/>
            <a:ext cx="50749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54496" y="1965960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D99A42"/>
                </a:solidFill>
                <a:latin typeface="Aptos"/>
              </a:rPr>
              <a:t>DEVICES &amp;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1938528"/>
            <a:ext cx="30175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Compare endpoints and flag unusually high device volume.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54496" y="2706624"/>
            <a:ext cx="50749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2990088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718970"/>
                </a:solidFill>
                <a:latin typeface="Aptos"/>
              </a:rPr>
              <a:t>TIME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962656"/>
            <a:ext cx="30175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Compare hourly, daily and weekday/weekend demand.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3730752"/>
            <a:ext cx="50749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54496" y="2990088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C8553D"/>
                </a:solidFill>
                <a:latin typeface="Aptos"/>
              </a:rPr>
              <a:t>UPLOAD / DOWNLOAD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962656"/>
            <a:ext cx="30175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See total volume and directional imbalance.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54496" y="3730752"/>
            <a:ext cx="50749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8" y="4014216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D99A42"/>
                </a:solidFill>
                <a:latin typeface="Aptos"/>
              </a:rPr>
              <a:t>RANKINGS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3986784"/>
            <a:ext cx="30175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Track leading consumers and changes between periods.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" y="4754880"/>
            <a:ext cx="50749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54496" y="4014216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718970"/>
                </a:solidFill>
                <a:latin typeface="Aptos"/>
              </a:rPr>
              <a:t>REPLAY &amp;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3986784"/>
            <a:ext cx="30175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Inspect earlier network conditions and export summaries.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54496" y="4754880"/>
            <a:ext cx="50749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9808" y="5074920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C8553D"/>
                </a:solidFill>
                <a:latin typeface="Aptos"/>
              </a:rPr>
              <a:t>EXAMPLE INVESTIGATION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321808"/>
            <a:ext cx="10607040" cy="4297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706D66"/>
                </a:solidFill>
                <a:latin typeface="Aptos"/>
              </a:rPr>
              <a:t>Start with a peak hour, inspect its top applications and devices, compare it with the usual weekday pattern, then check whether latency, jitter or loss also increased.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06 /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292824"/>
                </a:solidFill>
                <a:latin typeface="Aptos"/>
              </a:rPr>
              <a:t>Three methods look for unusual traffic in different ways.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A human can inspect the signal and compare the methods before treating an alert as an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07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22402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C8553D"/>
                </a:solidFill>
                <a:latin typeface="Aptos"/>
              </a:rPr>
              <a:t>SEASONAL Z-SCORE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65376"/>
            <a:ext cx="48006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Compare a point with traffic for the same hour and weekday/weekend group.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865376"/>
            <a:ext cx="292608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0">
                <a:solidFill>
                  <a:srgbClr val="706D66"/>
                </a:solidFill>
                <a:latin typeface="Aptos"/>
              </a:rPr>
              <a:t>Explains distance from a mean.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633472"/>
            <a:ext cx="1046988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962656"/>
            <a:ext cx="22402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D99A42"/>
                </a:solidFill>
                <a:latin typeface="Aptos"/>
              </a:rPr>
              <a:t>IQR FENCE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07792"/>
            <a:ext cx="48006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Flag unusually high observations above a percentile-based upper fence.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907792"/>
            <a:ext cx="292608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0">
                <a:solidFill>
                  <a:srgbClr val="706D66"/>
                </a:solidFill>
                <a:latin typeface="Aptos"/>
              </a:rPr>
              <a:t>Less dependent on a normal distribution.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675888"/>
            <a:ext cx="1046988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4005072"/>
            <a:ext cx="22402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718970"/>
                </a:solidFill>
                <a:latin typeface="Aptos"/>
              </a:rPr>
              <a:t>ISOLATION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950208"/>
            <a:ext cx="48006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Use multiple traffic and calendar features to isolate unusual observations.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950208"/>
            <a:ext cx="292608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0">
                <a:solidFill>
                  <a:srgbClr val="706D66"/>
                </a:solidFill>
                <a:latin typeface="Aptos"/>
              </a:rPr>
              <a:t>Finds multivariable patterns.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4718304"/>
            <a:ext cx="1046988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5321808"/>
            <a:ext cx="10469880" cy="457200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376672"/>
            <a:ext cx="10058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F8F5EF"/>
                </a:solidFill>
                <a:latin typeface="Aptos"/>
              </a:rPr>
              <a:t>Evaluation compares alerts with injected simulator labels; it is a development check, not proof of live incident detection.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769864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C8553D"/>
                </a:solidFill>
                <a:latin typeface="Aptos"/>
              </a:rPr>
              <a:t>ALERT 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016752"/>
            <a:ext cx="10607040" cy="4297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706D66"/>
                </a:solidFill>
                <a:latin typeface="Aptos"/>
              </a:rPr>
              <a:t>Z-score flags values at or above 2.5 seasonal standard deviations. IQR uses the upper fence Q3 + 1.5 x IQR. Isolation Forest uses a 3% contamination setting. Thresholds control alert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07 / FORECAST &amp;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292824"/>
                </a:solidFill>
                <a:latin typeface="Aptos"/>
              </a:rPr>
              <a:t>The tool helps operators look ahead and test scenarios.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Forecasts and capacity planning are decision support; they do not change the network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08 / 16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1874519"/>
            <a:ext cx="0" cy="3566161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1920240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C8553D"/>
                </a:solidFill>
                <a:latin typeface="Aptos"/>
              </a:rPr>
              <a:t>DEMAND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48006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292824"/>
                </a:solidFill>
                <a:latin typeface="Aptos"/>
              </a:rPr>
              <a:t>Seasonal naïve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292824"/>
                </a:solidFill>
                <a:latin typeface="Aptos"/>
              </a:rPr>
              <a:t>Holt-Winters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292824"/>
                </a:solidFill>
                <a:latin typeface="Aptos"/>
              </a:rPr>
              <a:t>Gradient boosting with lag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480060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Time-ordered evaluation uses MAE, RMSE and MAPE so future hours do not leak into training.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20240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D99A42"/>
                </a:solidFill>
                <a:latin typeface="Aptos"/>
              </a:rPr>
              <a:t>CONGESTION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377440"/>
            <a:ext cx="470916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Find high-utilization periods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Compare utilization with latency and loss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Simulate users or link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703320"/>
            <a:ext cx="4663440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What-if outputs estimate relief under chosen assumptions. They should be checked against measured outcomes.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992624"/>
            <a:ext cx="10469880" cy="512064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5065776"/>
            <a:ext cx="1005840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292824"/>
                </a:solidFill>
                <a:latin typeface="Aptos"/>
              </a:rPr>
              <a:t>Capacity alerts use configurable thresholds; recommendations remain with the operator.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623560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C8553D"/>
                </a:solidFill>
                <a:latin typeface="Aptos"/>
              </a:rPr>
              <a:t>MODEL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870448"/>
            <a:ext cx="10607040" cy="4297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706D66"/>
                </a:solidFill>
                <a:latin typeface="Aptos"/>
              </a:rPr>
              <a:t>The forecast page compares models on a time-ordered holdout and reports MAE, RMSE and MAPE. Congestion views flag utilization above 80% and support link-capacity what-if comparisons.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08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292824"/>
                </a:solidFill>
                <a:latin typeface="Aptos"/>
              </a:rPr>
              <a:t>Implementation is ahead of field validation.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A clear boundary between available features and verified performance keeps conclusions honest.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09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2011680" cy="292608"/>
          </a:xfrm>
          <a:prstGeom prst="roundRect">
            <a:avLst>
              <a:gd name="adj" fmla="val 10000"/>
            </a:avLst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1929384"/>
            <a:ext cx="77724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Collectors, storage, dashboards, detectors, forecasts and reporting.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679191"/>
            <a:ext cx="1042416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2971800"/>
            <a:ext cx="2011680" cy="292608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AVAILABLE TO 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935224"/>
            <a:ext cx="77724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Local history and simulator labels support repeatable analysis.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685032"/>
            <a:ext cx="1042416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3977639"/>
            <a:ext cx="2011680" cy="292608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NOT YET ESTABLISHED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3"/>
            <a:ext cx="77724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92824"/>
                </a:solidFill>
                <a:latin typeface="Aptos"/>
              </a:rPr>
              <a:t>Real-world alert precision, forecast advantage, savings or service improvement.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4690872"/>
            <a:ext cx="1042416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5230368"/>
            <a:ext cx="10424160" cy="521207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12664"/>
            <a:ext cx="1005840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F8F5EF"/>
                </a:solidFill>
                <a:latin typeface="Aptos"/>
              </a:rPr>
              <a:t>No score is presented as a result until the evaluation is run and its data window is recorded.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623560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C8553D"/>
                </a:solidFill>
                <a:latin typeface="Aptos"/>
              </a:rPr>
              <a:t>EVALUATION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870448"/>
            <a:ext cx="10607040" cy="4297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706D66"/>
                </a:solidFill>
                <a:latin typeface="Aptos"/>
              </a:rPr>
              <a:t>Report the date range, sample coverage, thresholds and baseline alongside every metric. Synthetic labels are useful for repeatable checks, but live false alarms and missed events need separate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09 / NEXT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292824"/>
                </a:solidFill>
                <a:latin typeface="Aptos"/>
              </a:rPr>
              <a:t>The next step is a measured, repeatable evaluation.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Review 2 confirms that the platform is built; Review 3 should establish how well it performs.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10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29968"/>
            <a:ext cx="502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C8553D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23957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292824"/>
                </a:solidFill>
                <a:latin typeface="Aptos"/>
              </a:rPr>
              <a:t>CHECK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99232"/>
            <a:ext cx="2395728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Confirm timestamps, gaps and sensor availability.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" y="4005072"/>
            <a:ext cx="2304288" cy="0"/>
          </a:xfrm>
          <a:prstGeom prst="line">
            <a:avLst/>
          </a:prstGeom>
          <a:ln w="25400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11296" y="2029968"/>
            <a:ext cx="502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C8553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542032"/>
            <a:ext cx="23957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292824"/>
                </a:solidFill>
                <a:latin typeface="Aptos"/>
              </a:rPr>
              <a:t>RUN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999232"/>
            <a:ext cx="2395728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Compare detectors and forecasts on recorded data.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11296" y="4005072"/>
            <a:ext cx="2304287" cy="0"/>
          </a:xfrm>
          <a:prstGeom prst="line">
            <a:avLst/>
          </a:prstGeom>
          <a:ln w="25400">
            <a:solidFill>
              <a:srgbClr val="D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72784" y="2029968"/>
            <a:ext cx="502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C8553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542032"/>
            <a:ext cx="23957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292824"/>
                </a:solidFill>
                <a:latin typeface="Aptos"/>
              </a:rPr>
              <a:t>TEST IN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999232"/>
            <a:ext cx="2395728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Verify alerts with known events and compare before/after changes.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72784" y="4005072"/>
            <a:ext cx="2304288" cy="0"/>
          </a:xfrm>
          <a:prstGeom prst="line">
            <a:avLst/>
          </a:prstGeom>
          <a:ln w="25400">
            <a:solidFill>
              <a:srgbClr val="718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34272" y="2029968"/>
            <a:ext cx="502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C8553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542032"/>
            <a:ext cx="23957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292824"/>
                </a:solidFill>
                <a:latin typeface="Aptos"/>
              </a:rPr>
              <a:t>REPORT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999232"/>
            <a:ext cx="2395728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Describe errors, false alarms and where the results apply.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34272" y="4005072"/>
            <a:ext cx="2304288" cy="0"/>
          </a:xfrm>
          <a:prstGeom prst="line">
            <a:avLst/>
          </a:prstGeom>
          <a:ln w="25400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808" y="4681728"/>
            <a:ext cx="10561320" cy="658368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773168"/>
            <a:ext cx="100584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292824"/>
                </a:solidFill>
                <a:latin typeface="Aptos"/>
              </a:rPr>
              <a:t>Review 1: methods and architecture  →  Review 2: implementation  →  Review 3: measured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623560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C8553D"/>
                </a:solidFill>
                <a:latin typeface="Aptos"/>
              </a:rPr>
              <a:t>DELIVERABLE FOR REVIEW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870448"/>
            <a:ext cx="10607040" cy="4297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706D66"/>
                </a:solidFill>
                <a:latin typeface="Aptos"/>
              </a:rPr>
              <a:t>A reproducible benchmark table, known-event alert review, forecast comparison against a simple baseline, and a measured before/after congestion case with assumptions stated.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10 / STORAGE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292824"/>
                </a:solidFill>
                <a:latin typeface="Aptos"/>
              </a:rPr>
              <a:t>A relational database keeps traffic, quality and outcomes connected.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The schema supports investigation at application, device, time and account 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11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C8553D"/>
                </a:solidFill>
                <a:latin typeface="Aptos"/>
              </a:rPr>
              <a:t>TRAFFIC ENTITIES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267712"/>
            <a:ext cx="3310128" cy="0"/>
          </a:xfrm>
          <a:prstGeom prst="line">
            <a:avLst/>
          </a:prstGeom>
          <a:ln w="19050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340864"/>
            <a:ext cx="3310128" cy="1170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users and devices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applications and network sessions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bandwidth_usage: bytes_up, bytes_down, timestamp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9A42"/>
                </a:solidFill>
                <a:latin typeface="Aptos"/>
              </a:rPr>
              <a:t>QUALITY &amp; MODEL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2267712"/>
            <a:ext cx="3310127" cy="0"/>
          </a:xfrm>
          <a:prstGeom prst="line">
            <a:avLst/>
          </a:prstGeom>
          <a:ln w="19050">
            <a:solidFill>
              <a:srgbClr val="D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34840" y="2340864"/>
            <a:ext cx="3310128" cy="1170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network_metrics: latency, jitter, loss, utilization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anomaly_labels and alerts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predictions and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18970"/>
                </a:solidFill>
                <a:latin typeface="Aptos"/>
              </a:rPr>
              <a:t>QUERY &amp; RETENTION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9872" y="2267712"/>
            <a:ext cx="3310128" cy="0"/>
          </a:xfrm>
          <a:prstGeom prst="line">
            <a:avLst/>
          </a:prstGeom>
          <a:ln w="19050">
            <a:solidFill>
              <a:srgbClr val="718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19872" y="2340864"/>
            <a:ext cx="3310128" cy="1170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Named parameterized SQL queries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Foreign keys and WAL mode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30-day retention roll-up to hourly_aggregates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096512"/>
            <a:ext cx="10680192" cy="694944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69663"/>
            <a:ext cx="102412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92824"/>
                </a:solidFill>
                <a:latin typeface="Aptos"/>
              </a:rPr>
              <a:t>Why this matters: one traffic sample can be traced to its time window, app and device, then compared with network quality and any generated alert.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84064"/>
            <a:ext cx="5074920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06D66"/>
                </a:solidFill>
                <a:latin typeface="Aptos"/>
              </a:rPr>
              <a:t>ENGINEERING TRADE-OFF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8" y="5413248"/>
            <a:ext cx="5074920" cy="0"/>
          </a:xfrm>
          <a:prstGeom prst="line">
            <a:avLst/>
          </a:prstGeom>
          <a:ln w="19050">
            <a:solidFill>
              <a:srgbClr val="706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808" y="5486400"/>
            <a:ext cx="5074920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SQLite suits a local analyzer and moderate write volume. Distributed storage becomes more appropriate for many sites or sustained high-volume probes.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5084064"/>
            <a:ext cx="5084064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06D66"/>
                </a:solidFill>
                <a:latin typeface="Aptos"/>
              </a:rPr>
              <a:t>DATA QUALITY CHECKS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27648" y="5413248"/>
            <a:ext cx="5084064" cy="0"/>
          </a:xfrm>
          <a:prstGeom prst="line">
            <a:avLst/>
          </a:prstGeom>
          <a:ln w="19050">
            <a:solidFill>
              <a:srgbClr val="706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27648" y="5486400"/>
            <a:ext cx="5084064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Monitor missing intervals, duplicated timestamps, permission-limited process attribution and consistency between counters and hourly summaries.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11 /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292824"/>
                </a:solidFill>
                <a:latin typeface="Aptos"/>
              </a:rPr>
              <a:t>The analysis pages translate volume into operational questions.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Each view offers a different comparison; together they support a practical investigation.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12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C8553D"/>
                </a:solidFill>
                <a:latin typeface="Aptos"/>
              </a:rPr>
              <a:t>APPLICATION &amp; DEVICE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267712"/>
            <a:ext cx="3310128" cy="0"/>
          </a:xfrm>
          <a:prstGeom prst="line">
            <a:avLst/>
          </a:prstGeom>
          <a:ln w="19050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340864"/>
            <a:ext cx="3310128" cy="10241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Totals, shares, min/average/max, category breakdown and high-consumption device outliers.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9A42"/>
                </a:solidFill>
                <a:latin typeface="Aptos"/>
              </a:rPr>
              <a:t>TIME &amp; DIRECTION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2267712"/>
            <a:ext cx="3310127" cy="0"/>
          </a:xfrm>
          <a:prstGeom prst="line">
            <a:avLst/>
          </a:prstGeom>
          <a:ln w="19050">
            <a:solidFill>
              <a:srgbClr val="D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34840" y="2340864"/>
            <a:ext cx="3310128" cy="10241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Hourly, daily and weekday/weekend patterns; upload/download totals and asymmetry categories.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18970"/>
                </a:solidFill>
                <a:latin typeface="Aptos"/>
              </a:rPr>
              <a:t>CAPACITY &amp; EFFICIENCY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9872" y="2267712"/>
            <a:ext cx="3310128" cy="0"/>
          </a:xfrm>
          <a:prstGeom prst="line">
            <a:avLst/>
          </a:prstGeom>
          <a:ln w="19050">
            <a:solidFill>
              <a:srgbClr val="718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19872" y="2340864"/>
            <a:ext cx="3310128" cy="10241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Utilization, quality correlations, peak-to-average behavior and ranked optimization suggestions.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858768"/>
            <a:ext cx="1046988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EFFICIENCY SCORE: FIVE WEIGHTED PARTS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4343400"/>
            <a:ext cx="1938528" cy="9144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07992"/>
            <a:ext cx="19202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C8553D"/>
                </a:solidFill>
                <a:latin typeface="Aptos"/>
              </a:rP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192024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Useful throughput share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79" y="4343400"/>
            <a:ext cx="1938528" cy="91440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79" y="4507992"/>
            <a:ext cx="19202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D99A42"/>
                </a:solidFill>
                <a:latin typeface="Aptos"/>
              </a:rP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79" y="4846320"/>
            <a:ext cx="192024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Peak smoothness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02352" y="4343400"/>
            <a:ext cx="1938528" cy="91440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4507992"/>
            <a:ext cx="19202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18970"/>
                </a:solidFill>
                <a:latin typeface="Aptos"/>
              </a:rP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4846320"/>
            <a:ext cx="192024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Off-peak shift potential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4343400"/>
            <a:ext cx="1938528" cy="9144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8624" y="4507992"/>
            <a:ext cx="19202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C8553D"/>
                </a:solidFill>
                <a:latin typeface="Aptos"/>
              </a:rPr>
              <a:t>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8624" y="4846320"/>
            <a:ext cx="192024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Upload/download balance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54896" y="4343400"/>
            <a:ext cx="1938528" cy="91440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54896" y="4507992"/>
            <a:ext cx="19202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D99A42"/>
                </a:solidFill>
                <a:latin typeface="Aptos"/>
              </a:rPr>
              <a:t>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4846320"/>
            <a:ext cx="192024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Loss and jitter quality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5687568"/>
            <a:ext cx="10680192" cy="420624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733288"/>
            <a:ext cx="10296144" cy="2834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8F5EF"/>
                </a:solidFill>
                <a:latin typeface="Aptos"/>
              </a:rPr>
              <a:t>The score is a compact summary; the component measures explain what is driving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12 / DETECTION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292824"/>
                </a:solidFill>
                <a:latin typeface="Aptos"/>
              </a:rPr>
              <a:t>The three detectors use different definitions of “unusual.”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Compare their alerts and inspect the baseline before deciding whether a spike needs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13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C8553D"/>
                </a:solidFill>
                <a:latin typeface="Aptos"/>
              </a:rPr>
              <a:t>SEASONAL Z-SCORE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267712"/>
            <a:ext cx="3310128" cy="0"/>
          </a:xfrm>
          <a:prstGeom prst="line">
            <a:avLst/>
          </a:prstGeom>
          <a:ln w="19050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340864"/>
            <a:ext cx="3310128" cy="1307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z = (x - mean) / standard deviation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Baseline groups by hour and weekday/weekend.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Flag when z &gt;= 2.5.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9A42"/>
                </a:solidFill>
                <a:latin typeface="Aptos"/>
              </a:rPr>
              <a:t>IQR UPPER FENCE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2267712"/>
            <a:ext cx="3310127" cy="0"/>
          </a:xfrm>
          <a:prstGeom prst="line">
            <a:avLst/>
          </a:prstGeom>
          <a:ln w="19050">
            <a:solidFill>
              <a:srgbClr val="D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34840" y="2340864"/>
            <a:ext cx="3310128" cy="1307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IQR = Q3 - Q1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Upper fence = Q3 + 1.5 x IQR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Flags high observations above the fence.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18970"/>
                </a:solidFill>
                <a:latin typeface="Aptos"/>
              </a:rPr>
              <a:t>ISOLATION FOREST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9872" y="2267712"/>
            <a:ext cx="3310128" cy="0"/>
          </a:xfrm>
          <a:prstGeom prst="line">
            <a:avLst/>
          </a:prstGeom>
          <a:ln w="19050">
            <a:solidFill>
              <a:srgbClr val="718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19872" y="2340864"/>
            <a:ext cx="3310128" cy="1307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Uses Mbps, upload/download bytes and calendar features.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Contamination is configured at 3%.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Anomaly score is continuous.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160520"/>
            <a:ext cx="104698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BENCHMARK AGAINST INJECTED LABELS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590288"/>
            <a:ext cx="335584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81728"/>
            <a:ext cx="3108960" cy="2468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C8553D"/>
                </a:solidFill>
                <a:latin typeface="Aptos"/>
              </a:rPr>
              <a:t>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65192"/>
            <a:ext cx="310896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292824"/>
                </a:solidFill>
                <a:latin typeface="Aptos"/>
              </a:rPr>
              <a:t>TP / (TP + FP) - share of alerts that were labelled anomalies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4590288"/>
            <a:ext cx="335584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4681728"/>
            <a:ext cx="3108960" cy="2468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9A42"/>
                </a:solidFill>
                <a:latin typeface="Aptos"/>
              </a:rPr>
              <a:t>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965192"/>
            <a:ext cx="310896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292824"/>
                </a:solidFill>
                <a:latin typeface="Aptos"/>
              </a:rPr>
              <a:t>TP / (TP + FN) - share of labelled anomalies detected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4590288"/>
            <a:ext cx="335584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456" y="4681728"/>
            <a:ext cx="3108960" cy="2468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18970"/>
                </a:solidFill>
                <a:latin typeface="Aptos"/>
              </a:rPr>
              <a:t>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4965192"/>
            <a:ext cx="310896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292824"/>
                </a:solidFill>
                <a:latin typeface="Aptos"/>
              </a:rPr>
              <a:t>Harmonic mean of precision and recall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13 /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292824"/>
                </a:solidFill>
                <a:latin typeface="Aptos"/>
              </a:rPr>
              <a:t>Forecast quality depends on both the model and the test window.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The implementation compares a simple seasonal baseline with two richer approaches.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14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C8553D"/>
                </a:solidFill>
                <a:latin typeface="Aptos"/>
              </a:rPr>
              <a:t>SEASONAL NAIVE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267712"/>
            <a:ext cx="3310128" cy="0"/>
          </a:xfrm>
          <a:prstGeom prst="line">
            <a:avLst/>
          </a:prstGeom>
          <a:ln w="19050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340864"/>
            <a:ext cx="3310128" cy="1316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Predict an hour using the observed value 24 hours earlier. A transparent baseline that is hard to beat on stable daily cycles.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9A42"/>
                </a:solidFill>
                <a:latin typeface="Aptos"/>
              </a:rPr>
              <a:t>HOLT-WINTERS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2267712"/>
            <a:ext cx="3310127" cy="0"/>
          </a:xfrm>
          <a:prstGeom prst="line">
            <a:avLst/>
          </a:prstGeom>
          <a:ln w="19050">
            <a:solidFill>
              <a:srgbClr val="D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34840" y="2340864"/>
            <a:ext cx="3310128" cy="1316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Additive level, trend and 24-hour seasonal components. Smooths recurring demand while adapting to gradual shifts.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18970"/>
                </a:solidFill>
                <a:latin typeface="Aptos"/>
              </a:rPr>
              <a:t>GRADIENT BOOSTING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9872" y="2267712"/>
            <a:ext cx="3310128" cy="0"/>
          </a:xfrm>
          <a:prstGeom prst="line">
            <a:avLst/>
          </a:prstGeom>
          <a:ln w="19050">
            <a:solidFill>
              <a:srgbClr val="718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19872" y="2340864"/>
            <a:ext cx="3310128" cy="1316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Learns from lagged traffic, rolling summaries and calendar features. Can capture nonlinear patterns in recent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096512"/>
            <a:ext cx="1042416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TIME-ORDERED HOLDOUT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C8553D"/>
                </a:solidFill>
                <a:latin typeface="Aptos"/>
              </a:rPr>
              <a:t>MAE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864608"/>
            <a:ext cx="3246120" cy="5760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Average absolute miss in Mbps.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4507992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D99A42"/>
                </a:solidFill>
                <a:latin typeface="Aptos"/>
              </a:rPr>
              <a:t>RMSE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4864608"/>
            <a:ext cx="3246120" cy="5760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Weights larger misses more heavily.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4507992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718970"/>
                </a:solidFill>
                <a:latin typeface="Aptos"/>
              </a:rPr>
              <a:t>MAPE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4864608"/>
            <a:ext cx="3246120" cy="5760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Percentage error; handle zero-traffic hours carefully.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559552"/>
            <a:ext cx="10680192" cy="484632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632704"/>
            <a:ext cx="10259568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Use contiguous future hours for the test split; report the training window and compare every model on the same hours.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14 / ACCOUNTS &amp;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292824"/>
                </a:solidFill>
                <a:latin typeface="Aptos"/>
              </a:rPr>
              <a:t>Shared rankings are designed around explicit account relationships.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The application separates account discovery from access to aggregated usage.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15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C8553D"/>
                </a:solidFill>
                <a:latin typeface="Aptos"/>
              </a:rPr>
              <a:t>ACCOUNT SETUP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267712"/>
            <a:ext cx="3310128" cy="0"/>
          </a:xfrm>
          <a:prstGeom prst="line">
            <a:avLst/>
          </a:prstGeom>
          <a:ln w="19050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340864"/>
            <a:ext cx="3310128" cy="1170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Users create an account through the Streamlit interface. Passwords are stored as salted scrypt hashes.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9A42"/>
                </a:solidFill>
                <a:latin typeface="Aptos"/>
              </a:rPr>
              <a:t>FRIEND CODES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2267712"/>
            <a:ext cx="3310127" cy="0"/>
          </a:xfrm>
          <a:prstGeom prst="line">
            <a:avLst/>
          </a:prstGeom>
          <a:ln w="19050">
            <a:solidFill>
              <a:srgbClr val="D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34840" y="2340864"/>
            <a:ext cx="3310128" cy="1170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A friend code discovers an account. Following is one-way, so each person adds the other to see both ranking directions.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18970"/>
                </a:solidFill>
                <a:latin typeface="Aptos"/>
              </a:rPr>
              <a:t>USAGE INGESTION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9872" y="2267712"/>
            <a:ext cx="3310128" cy="0"/>
          </a:xfrm>
          <a:prstGeom prst="line">
            <a:avLst/>
          </a:prstGeom>
          <a:ln w="19050">
            <a:solidFill>
              <a:srgbClr val="718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19872" y="2340864"/>
            <a:ext cx="3310128" cy="1170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Collector token is separate and revocable. Backend accepts samples; it does not expose a traffic-reading endpoint.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041648"/>
            <a:ext cx="10680192" cy="694944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14800"/>
            <a:ext cx="1024128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92824"/>
                </a:solidFill>
                <a:latin typeface="Aptos"/>
              </a:rPr>
              <a:t>Trust boundary: friend-code lookup does not grant access to metrics. Only the intended aggregate usage is shared through the ranking 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47488"/>
            <a:ext cx="5074920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06D66"/>
                </a:solidFill>
                <a:latin typeface="Aptos"/>
              </a:rPr>
              <a:t>DEPLOYMENT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8" y="5376672"/>
            <a:ext cx="5074920" cy="0"/>
          </a:xfrm>
          <a:prstGeom prst="line">
            <a:avLst/>
          </a:prstGeom>
          <a:ln w="19050">
            <a:solidFill>
              <a:srgbClr val="706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808" y="5449824"/>
            <a:ext cx="507492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Local Streamlit app and SQLite database; optional local backend for collector sample ingestion.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5047488"/>
            <a:ext cx="5084064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06D66"/>
                </a:solidFill>
                <a:latin typeface="Aptos"/>
              </a:rPr>
              <a:t>PRIVACY LIMIT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27648" y="5376672"/>
            <a:ext cx="5084064" cy="0"/>
          </a:xfrm>
          <a:prstGeom prst="line">
            <a:avLst/>
          </a:prstGeom>
          <a:ln w="19050">
            <a:solidFill>
              <a:srgbClr val="706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27648" y="5449824"/>
            <a:ext cx="5084064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Process metadata may identify an app, but TLS payload content is not decrypted or inspected.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C8553D"/>
                </a:solidFill>
                <a:latin typeface="Aptos"/>
              </a:rPr>
              <a:t>15 / REVIEW 3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292824"/>
                </a:solidFill>
                <a:latin typeface="Aptos"/>
              </a:rPr>
              <a:t>A credible final review needs measured results and traceable assumptions.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706D66"/>
                </a:solidFill>
                <a:latin typeface="Aptos"/>
              </a:rPr>
              <a:t>The repository includes test modules; the next review should report the evaluation run, not just code presence.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BANDWIDTH USAGE MONITOR &amp;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06D66"/>
                </a:solidFill>
                <a:latin typeface="Aptos"/>
              </a:rPr>
              <a:t>16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C8553D"/>
                </a:solidFill>
                <a:latin typeface="Aptos"/>
              </a:rPr>
              <a:t>1. DATA AUDIT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267712"/>
            <a:ext cx="3310128" cy="0"/>
          </a:xfrm>
          <a:prstGeom prst="line">
            <a:avLst/>
          </a:prstGeom>
          <a:ln w="19050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340864"/>
            <a:ext cx="3310128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Record collection interval, missing hours, sample counts, probe coverage and whether the source is live or simulated.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9A42"/>
                </a:solidFill>
                <a:latin typeface="Aptos"/>
              </a:rPr>
              <a:t>2. MODEL EVALUATION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2267712"/>
            <a:ext cx="3310127" cy="0"/>
          </a:xfrm>
          <a:prstGeom prst="line">
            <a:avLst/>
          </a:prstGeom>
          <a:ln w="19050">
            <a:solidFill>
              <a:srgbClr val="D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34840" y="2340864"/>
            <a:ext cx="3310128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Run detector metrics against simulator labels; compare forecasts to seasonal-naive on the same held-out hours.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1938528"/>
            <a:ext cx="3310128" cy="2651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18970"/>
                </a:solidFill>
                <a:latin typeface="Aptos"/>
              </a:rPr>
              <a:t>3. FIELD REVIEW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9872" y="2267712"/>
            <a:ext cx="3310128" cy="0"/>
          </a:xfrm>
          <a:prstGeom prst="line">
            <a:avLst/>
          </a:prstGeom>
          <a:ln w="19050">
            <a:solidFill>
              <a:srgbClr val="718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19872" y="2340864"/>
            <a:ext cx="3310128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92824"/>
                </a:solidFill>
                <a:latin typeface="Aptos"/>
              </a:rPr>
              <a:t>Check alerts against known events. Measure congestion before and after any traffic-shift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078224"/>
            <a:ext cx="1042416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92824"/>
                </a:solidFill>
                <a:latin typeface="Aptos"/>
              </a:rPr>
              <a:t>REPOSITORY TEST AREAS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17136"/>
            <a:ext cx="333756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C8553D"/>
                </a:solidFill>
                <a:latin typeface="Aptos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846320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292824"/>
                </a:solidFill>
                <a:latin typeface="Aptos"/>
              </a:rPr>
              <a:t>schema bootstrap, queries, 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4517136"/>
            <a:ext cx="333756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9A42"/>
                </a:solidFill>
                <a:latin typeface="Aptos"/>
              </a:rPr>
              <a:t>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4846320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292824"/>
                </a:solidFill>
                <a:latin typeface="Aptos"/>
              </a:rPr>
              <a:t>application, device, ranking, time and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4517136"/>
            <a:ext cx="333756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18970"/>
                </a:solidFill>
                <a:latin typeface="Aptos"/>
              </a:rPr>
              <a:t>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4846320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292824"/>
                </a:solidFill>
                <a:latin typeface="Aptos"/>
              </a:rPr>
              <a:t>anomaly and forecasting edge cases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513832"/>
            <a:ext cx="10680192" cy="521207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596128"/>
            <a:ext cx="10259568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8F5EF"/>
                </a:solidFill>
                <a:latin typeface="Aptos"/>
              </a:rPr>
              <a:t>Final report should include false alarms, missed events, forecast error, data limitations and reproducible run settings.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