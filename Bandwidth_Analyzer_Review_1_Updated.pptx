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02920"/>
            <a:ext cx="62179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BAMAT207  /  REVIEW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78992"/>
            <a:ext cx="6446520" cy="1371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292824"/>
                </a:solidFill>
                <a:latin typeface="Aptos"/>
              </a:rPr>
              <a:t>Reading the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292824"/>
                </a:solidFill>
                <a:latin typeface="Aptos"/>
              </a:rPr>
              <a:t>shape of network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630936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706D66"/>
                </a:solidFill>
                <a:latin typeface="Aptos"/>
              </a:rPr>
              <a:t>A statistical bandwidth analyzer for seeing demand,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706D66"/>
                </a:solidFill>
                <a:latin typeface="Aptos"/>
              </a:rPr>
              <a:t>spotting unusual activity and planning capacity.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3675887"/>
            <a:ext cx="644652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3886200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PROJECT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42232"/>
            <a:ext cx="6126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Raman Darda  ·  25BCE0893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2743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FACULTY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11496"/>
            <a:ext cx="6126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Prof. Juhi Baroi</a:t>
            </a:r>
          </a:p>
        </p:txBody>
      </p:sp>
      <p:sp>
        <p:nvSpPr>
          <p:cNvPr id="12" name="Oval 11"/>
          <p:cNvSpPr/>
          <p:nvPr/>
        </p:nvSpPr>
        <p:spPr>
          <a:xfrm>
            <a:off x="8956548" y="544068"/>
            <a:ext cx="1874519" cy="1874519"/>
          </a:xfrm>
          <a:prstGeom prst="ellipse">
            <a:avLst/>
          </a:prstGeom>
          <a:noFill/>
          <a:ln w="25400">
            <a:solidFill>
              <a:srgbClr val="3837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17152" y="804672"/>
            <a:ext cx="1353312" cy="1353312"/>
          </a:xfrm>
          <a:prstGeom prst="ellipse">
            <a:avLst/>
          </a:prstGeom>
          <a:noFill/>
          <a:ln w="25400">
            <a:solidFill>
              <a:srgbClr val="4C4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82328" y="1069848"/>
            <a:ext cx="822960" cy="822960"/>
          </a:xfrm>
          <a:prstGeom prst="ellipse">
            <a:avLst/>
          </a:prstGeom>
          <a:noFill/>
          <a:ln w="254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87752"/>
            <a:ext cx="301752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FROM RAW SAMPLES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TO A CLEARER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4261104"/>
            <a:ext cx="182880" cy="49377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31352" y="3785616"/>
            <a:ext cx="182880" cy="96926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51976" y="4078224"/>
            <a:ext cx="182880" cy="676656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72600" y="3529584"/>
            <a:ext cx="182880" cy="1225296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93224" y="3968496"/>
            <a:ext cx="182880" cy="786384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13848" y="3694176"/>
            <a:ext cx="182880" cy="1060704"/>
          </a:xfrm>
          <a:prstGeom prst="roundRect">
            <a:avLst>
              <a:gd name="adj" fmla="val 10000"/>
            </a:avLst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34472" y="4187952"/>
            <a:ext cx="182880" cy="566928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055096" y="3840480"/>
            <a:ext cx="182880" cy="914400"/>
          </a:xfrm>
          <a:prstGeom prst="roundRect">
            <a:avLst>
              <a:gd name="adj" fmla="val 10000"/>
            </a:avLst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5138928"/>
            <a:ext cx="347472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DB7AE"/>
                </a:solidFill>
                <a:latin typeface="Aptos"/>
              </a:rPr>
              <a:t>Idea  ·  problem  ·  method  · 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A connection can feel slow before its cause is clear.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same symptom can come from very different traffic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02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65960"/>
            <a:ext cx="4206240" cy="10515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2824"/>
                </a:solidFill>
                <a:latin typeface="Aptos"/>
              </a:rPr>
              <a:t>“Why is the network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2824"/>
                </a:solidFill>
                <a:latin typeface="Aptos"/>
              </a:rPr>
              <a:t>slow right now?”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291840"/>
            <a:ext cx="4160520" cy="1280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A single usage total cannot tell us who used bandwidth, when demand peaked, or whether latency and packet loss rose at the same time.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30952" y="1874519"/>
            <a:ext cx="0" cy="370332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87568" y="1847088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847088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139696"/>
            <a:ext cx="4983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Which device or app is using the link?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87568" y="2743200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743200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035808"/>
            <a:ext cx="4983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Are peaks tied to time of day or day of week?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639312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39312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WHAT CHANGED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931920"/>
            <a:ext cx="4983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Is a spike routine demand or an anomaly?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4535424"/>
            <a:ext cx="49377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8553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4535424"/>
            <a:ext cx="4297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WHAT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4828032"/>
            <a:ext cx="49834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Will demand approach available capacity?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02 / PROJECT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Turn network measurements into decisions.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One workflow links observed traffic to statistical signals and capacity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03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2157984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33472"/>
            <a:ext cx="217627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2212848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Traffic volume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Latency · jitter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Packet loss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53512" y="2414016"/>
            <a:ext cx="420624" cy="0"/>
          </a:xfrm>
          <a:prstGeom prst="line">
            <a:avLst/>
          </a:prstGeom>
          <a:ln w="1905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17520" y="2185416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8" y="2377440"/>
            <a:ext cx="2157984" cy="64008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2633472"/>
            <a:ext cx="217627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ORGANIZE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154680"/>
            <a:ext cx="2212848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Time series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By app · device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Hourly patterns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2414016"/>
            <a:ext cx="420624" cy="0"/>
          </a:xfrm>
          <a:prstGeom prst="line">
            <a:avLst/>
          </a:prstGeom>
          <a:ln w="1905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70448" y="2185416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91656" y="2377440"/>
            <a:ext cx="2157984" cy="64008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633472"/>
            <a:ext cx="217627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154680"/>
            <a:ext cx="2212848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Trends · outliers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Forecasts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Congestion risk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59368" y="2414016"/>
            <a:ext cx="420624" cy="0"/>
          </a:xfrm>
          <a:prstGeom prst="line">
            <a:avLst/>
          </a:prstGeom>
          <a:ln w="1905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723376" y="2185416"/>
            <a:ext cx="310896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8553D"/>
                </a:solidFill>
                <a:latin typeface="Aptos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44584" y="2377440"/>
            <a:ext cx="2157984" cy="6400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2633472"/>
            <a:ext cx="217627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154680"/>
            <a:ext cx="2212848" cy="10241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Investigate spikes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Plan capacity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706D66"/>
                </a:solidFill>
                <a:latin typeface="Aptos"/>
              </a:rPr>
              <a:t>Shift heavy tasks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736592"/>
            <a:ext cx="10771632" cy="804672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864608"/>
            <a:ext cx="10259568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PROJECT QUESTION   Can probability and time-series methods make bandwidth demand easier to explain and anticipate?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03 /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Four questions guide the first study.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This review defines the questions and approach; later reviews will focus on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04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965960"/>
            <a:ext cx="5852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553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965960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How does demand vary?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72184" y="2478024"/>
            <a:ext cx="4279391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72184" y="2624328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Summarize hourly, daily and application-level usage.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5852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553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1965960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What looks unusual?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31736" y="2478024"/>
            <a:ext cx="4279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031736" y="2624328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Compare observations with expected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657600"/>
            <a:ext cx="5852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553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3657600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What is likely next?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72184" y="4169664"/>
            <a:ext cx="4279391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72184" y="4315968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Forecast near-term demand from historical traffic.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657600"/>
            <a:ext cx="585216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553D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3657600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824"/>
                </a:solidFill>
                <a:latin typeface="Aptos"/>
              </a:rPr>
              <a:t>When is capacity at risk?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31736" y="4169664"/>
            <a:ext cx="4279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31736" y="4315968"/>
            <a:ext cx="434340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Relate utilization to latency, jitter and loss.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3327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18970"/>
                </a:solidFill>
                <a:latin typeface="Aptos"/>
              </a:rPr>
              <a:t>Outcome sought: interpretable evidence that supports monitoring and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04 / STATISTICAL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Probability gives a language for uncertainty.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Statistical ideas compare observations, estimate patterns and quantify forecast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05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2157984"/>
            <a:ext cx="2240280" cy="5029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377440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834640"/>
            <a:ext cx="226771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How values spread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694176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Mean · median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quartiles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2157984"/>
            <a:ext cx="2240280" cy="50292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377440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VARIATION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834640"/>
            <a:ext cx="226771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How demand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3694176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Standard deviation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interquartile range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2157984"/>
            <a:ext cx="2240280" cy="50292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377440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ANOMALY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834640"/>
            <a:ext cx="226771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How far a point departs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694176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Seasonal z-score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Isolation Forest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157984"/>
            <a:ext cx="2240280" cy="5029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377440"/>
            <a:ext cx="228600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FORECAST 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834640"/>
            <a:ext cx="2267712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92824"/>
                </a:solidFill>
                <a:latin typeface="Aptos"/>
              </a:rPr>
              <a:t>How close predictions 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694176"/>
            <a:ext cx="2331720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MAE · RMSE · MAPE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73168"/>
            <a:ext cx="10771632" cy="85039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901184"/>
            <a:ext cx="10241280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8F5EF"/>
                </a:solidFill>
                <a:latin typeface="Aptos"/>
              </a:rPr>
              <a:t>Example: judge a spike against its own hour-of-week baseline—not against a quiet hour with a different normal pattern.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05 /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The repository supports repeatable and live telemetry.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Two data paths support controlled testing and local observation.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06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47091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553D"/>
                </a:solidFill>
                <a:latin typeface="Aptos"/>
              </a:rPr>
              <a:t>SIMULATED STUDY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04872"/>
            <a:ext cx="475488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92824"/>
                </a:solidFill>
                <a:latin typeface="Aptos"/>
              </a:rPr>
              <a:t>90 days · hourly seasonality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92824"/>
                </a:solidFill>
                <a:latin typeface="Aptos"/>
              </a:rPr>
              <a:t>5 users · 8 devices · 12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392424"/>
            <a:ext cx="4526280" cy="9601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Known synthetic anomaly labels allow detector methods to be compared against a generated reference.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79008" y="1874519"/>
            <a:ext cx="0" cy="2697481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0" y="1938528"/>
            <a:ext cx="46177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18970"/>
                </a:solidFill>
                <a:latin typeface="Aptos"/>
              </a:rPr>
              <a:t>LIVE 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04872"/>
            <a:ext cx="502920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92824"/>
                </a:solidFill>
                <a:latin typeface="Aptos"/>
              </a:rPr>
              <a:t>Traffic counters · process mapping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92824"/>
                </a:solidFill>
                <a:latin typeface="Aptos"/>
              </a:rPr>
              <a:t>Latency · jitter · packet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92424"/>
            <a:ext cx="4709160" cy="9601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A local collector samples network I/O and stores measurements for dashboards and later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919472"/>
            <a:ext cx="10771632" cy="658368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038344"/>
            <a:ext cx="10259568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92824"/>
                </a:solidFill>
                <a:latin typeface="Aptos"/>
              </a:rPr>
              <a:t>FIELDS   Bytes up/down · timestamp · app/device · latency · jitter · loss · link utilization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5660136"/>
            <a:ext cx="932688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Python · Streamlit · SQLite · Pandas · Scikit-learn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Statsmodels · Plotly · psutil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06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A repeatable pipeline keeps the analysis traceable.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Each result can be followed back to underlying time-stamped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07 / 10</a:t>
            </a:r>
          </a:p>
        </p:txBody>
      </p:sp>
      <p:sp>
        <p:nvSpPr>
          <p:cNvPr id="9" name="Oval 8"/>
          <p:cNvSpPr/>
          <p:nvPr/>
        </p:nvSpPr>
        <p:spPr>
          <a:xfrm>
            <a:off x="1161288" y="2441448"/>
            <a:ext cx="146304" cy="14630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874519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55264"/>
            <a:ext cx="196596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psutil counters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Ping probe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99616" y="2514600"/>
            <a:ext cx="1325880" cy="0"/>
          </a:xfrm>
          <a:prstGeom prst="line">
            <a:avLst/>
          </a:prstGeom>
          <a:ln w="1651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493008" y="2441448"/>
            <a:ext cx="146304" cy="146304"/>
          </a:xfrm>
          <a:prstGeom prst="ellipse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2816352"/>
            <a:ext cx="1874519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55264"/>
            <a:ext cx="196596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SQLite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Timestamped records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31335" y="2514600"/>
            <a:ext cx="1325881" cy="0"/>
          </a:xfrm>
          <a:prstGeom prst="line">
            <a:avLst/>
          </a:prstGeom>
          <a:ln w="1651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24727" y="2441448"/>
            <a:ext cx="146304" cy="146304"/>
          </a:xfrm>
          <a:prstGeom prst="ellipse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9" y="2816352"/>
            <a:ext cx="1874519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3255264"/>
            <a:ext cx="196596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Hourly series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Missing-hour handling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63055" y="2514600"/>
            <a:ext cx="1325881" cy="0"/>
          </a:xfrm>
          <a:prstGeom prst="line">
            <a:avLst/>
          </a:prstGeom>
          <a:ln w="1651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56448" y="2441448"/>
            <a:ext cx="146304" cy="14630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816352"/>
            <a:ext cx="1874519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255264"/>
            <a:ext cx="196596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Seasonal baseline · Holt–Winters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Gradient boosting with lag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94776" y="2514600"/>
            <a:ext cx="1325880" cy="0"/>
          </a:xfrm>
          <a:prstGeom prst="line">
            <a:avLst/>
          </a:prstGeom>
          <a:ln w="1651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488167" y="2441448"/>
            <a:ext cx="146304" cy="146304"/>
          </a:xfrm>
          <a:prstGeom prst="ellipse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19" y="2816352"/>
            <a:ext cx="1874519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92824"/>
                </a:solidFill>
                <a:latin typeface="Aptos"/>
              </a:rPr>
              <a:t>EVALUATE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255264"/>
            <a:ext cx="1965960" cy="7040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Time-ordered holdout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06D66"/>
                </a:solidFill>
                <a:latin typeface="Aptos"/>
              </a:rPr>
              <a:t>MAE · RMSE · MAPE · R²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4389120"/>
            <a:ext cx="10744200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2376" y="4663440"/>
            <a:ext cx="210312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553D"/>
                </a:solidFill>
                <a:latin typeface="Aptos"/>
              </a:rPr>
              <a:t>VALIDATION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5074920"/>
            <a:ext cx="1042416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92824"/>
                </a:solidFill>
                <a:latin typeface="Aptos"/>
              </a:rPr>
              <a:t>Train on earlier hours; score predictions on later hours. This preserves time order and avoids using future traffic to predict the past.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07 /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Four lenses explain demand from different angles.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The application exposes these analyses as separate, inspectable 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08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938528"/>
            <a:ext cx="54864" cy="112471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466344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TIME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95144"/>
            <a:ext cx="47091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Hourly and weekday curves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88920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Find recurring peaks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38528"/>
            <a:ext cx="54864" cy="1124712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38528"/>
            <a:ext cx="466344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ANOMALIES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95144"/>
            <a:ext cx="47091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Seasonal z-score · IQR · Isolation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Flag unusual traffic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" y="3648456"/>
            <a:ext cx="54864" cy="1124712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48456"/>
            <a:ext cx="466344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005072"/>
            <a:ext cx="47091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Seasonal baseline · Holt–Winters · gradient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498848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Estimate near-term demand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48456"/>
            <a:ext cx="54864" cy="112471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648456"/>
            <a:ext cx="4663440" cy="3017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CONGESTION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005072"/>
            <a:ext cx="470916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92824"/>
                </a:solidFill>
                <a:latin typeface="Aptos"/>
              </a:rPr>
              <a:t>Utilization · latency · jitter · packet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98848"/>
            <a:ext cx="4572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Identify pressure windows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08 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Review 2 will turn the plan into measured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Forecast quality will include a regression R² score; the target is above 0.85 on held-out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09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93392"/>
            <a:ext cx="26060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ANOMALY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93392"/>
            <a:ext cx="245059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Precision · recall ·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1993392"/>
            <a:ext cx="506577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Compare flagged intervals with simulator labels.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" y="2542032"/>
            <a:ext cx="10735056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3232" y="2798064"/>
            <a:ext cx="26060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DEMAND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798064"/>
            <a:ext cx="245059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MAE · RMSE · MAPE · 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798064"/>
            <a:ext cx="506577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Score predictions against later observed usage.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3232" y="3346704"/>
            <a:ext cx="10735056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3602736"/>
            <a:ext cx="26060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CONGESTION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602736"/>
            <a:ext cx="245059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Correlation · threshold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3602736"/>
            <a:ext cx="506577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Study how link use and quality measures move together.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" y="4151376"/>
            <a:ext cx="10735056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3232" y="4407408"/>
            <a:ext cx="2606040" cy="2834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407408"/>
            <a:ext cx="2450592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92824"/>
                </a:solidFill>
                <a:latin typeface="Aptos"/>
              </a:rPr>
              <a:t>End-to-end demonstration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4407408"/>
            <a:ext cx="5065776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Show collection, analysis and one actionable finding.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" y="4956048"/>
            <a:ext cx="10735056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13232" y="5303520"/>
            <a:ext cx="10744200" cy="731520"/>
          </a:xfrm>
          <a:prstGeom prst="roundRect">
            <a:avLst>
              <a:gd name="adj" fmla="val 10000"/>
            </a:avLst>
          </a:prstGeom>
          <a:solidFill>
            <a:srgbClr val="EE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358384"/>
            <a:ext cx="4709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92824"/>
                </a:solidFill>
                <a:latin typeface="Aptos"/>
              </a:rPr>
              <a:t>R² = 1 − Σ(y − ŷ)² / Σ(y − ȳ)²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5349240"/>
            <a:ext cx="534924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06D66"/>
                </a:solidFill>
                <a:latin typeface="Aptos"/>
              </a:rPr>
              <a:t>Goal: R² &gt; 0.85 on held-out data. This is a target for later testing, not a result yet.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28600"/>
            <a:ext cx="91440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553D"/>
                </a:solidFill>
                <a:latin typeface="Aptos"/>
              </a:rPr>
              <a:t>09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76072"/>
            <a:ext cx="11064240" cy="6217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292824"/>
                </a:solidFill>
                <a:latin typeface="Aptos"/>
              </a:rPr>
              <a:t>Three reviews, from question to evidence.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0352" y="1344168"/>
            <a:ext cx="11137392" cy="0"/>
          </a:xfrm>
          <a:prstGeom prst="line">
            <a:avLst/>
          </a:prstGeom>
          <a:ln w="12700">
            <a:solidFill>
              <a:srgbClr val="E8E1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417320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06D66"/>
                </a:solidFill>
                <a:latin typeface="Aptos"/>
              </a:rPr>
              <a:t>Today establishes a focused and testable direction for the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BAMAT207  ·  PROBABILITY &amp; STATISTICS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10528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06D66"/>
                </a:solidFill>
                <a:latin typeface="Aptos"/>
              </a:rPr>
              <a:t>10 /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" y="2304288"/>
            <a:ext cx="2944368" cy="54864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551176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553D"/>
                </a:solidFill>
                <a:latin typeface="Aptos"/>
              </a:rPr>
              <a:t>REVIEW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999232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Idea &amp;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749039"/>
            <a:ext cx="3063240" cy="9326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Define the questions, data, methods and evaluation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2856" y="2304288"/>
            <a:ext cx="2944368" cy="54864"/>
          </a:xfrm>
          <a:prstGeom prst="rect">
            <a:avLst/>
          </a:prstGeom>
          <a:solidFill>
            <a:srgbClr val="D9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2856" y="2551176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9A42"/>
                </a:solidFill>
                <a:latin typeface="Aptos"/>
              </a:rPr>
              <a:t>REVIEW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2999232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Build &amp;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3749039"/>
            <a:ext cx="3063240" cy="9326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Demonstrate the pipeline, methods, charts and early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03336" y="2304288"/>
            <a:ext cx="2944368" cy="54864"/>
          </a:xfrm>
          <a:prstGeom prst="rect">
            <a:avLst/>
          </a:prstGeom>
          <a:solidFill>
            <a:srgbClr val="718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2551176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18970"/>
                </a:solidFill>
                <a:latin typeface="Aptos"/>
              </a:rPr>
              <a:t>REVIEW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999232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2824"/>
                </a:solidFill>
                <a:latin typeface="Aptos"/>
              </a:rPr>
              <a:t>Validation &amp;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3749039"/>
            <a:ext cx="3063240" cy="9326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06D66"/>
                </a:solidFill>
                <a:latin typeface="Aptos"/>
              </a:rPr>
              <a:t>Compare methods, discuss limits and present final findings.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212080"/>
            <a:ext cx="10744200" cy="576072"/>
          </a:xfrm>
          <a:prstGeom prst="roundRect">
            <a:avLst>
              <a:gd name="adj" fmla="val 10000"/>
            </a:avLst>
          </a:prstGeom>
          <a:solidFill>
            <a:srgbClr val="252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5321808"/>
            <a:ext cx="102412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8F5EF"/>
                </a:solidFill>
                <a:latin typeface="Aptos"/>
              </a:rPr>
              <a:t>FIRST-REVIEW TAKEAWAY   Measure  →  explain  →  anticipate  → 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