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D" userId="323022968e8bd8a1" providerId="LiveId" clId="{367701D4-86C8-4405-8F53-196591BCD1E9}"/>
    <pc:docChg chg="modSld">
      <pc:chgData name="R D" userId="323022968e8bd8a1" providerId="LiveId" clId="{367701D4-86C8-4405-8F53-196591BCD1E9}" dt="2026-10-15T08:31:51.477" v="34" actId="20577"/>
      <pc:docMkLst>
        <pc:docMk/>
      </pc:docMkLst>
      <pc:sldChg chg="modSp mod">
        <pc:chgData name="R D" userId="323022968e8bd8a1" providerId="LiveId" clId="{367701D4-86C8-4405-8F53-196591BCD1E9}" dt="2026-10-15T08:31:51.477" v="34" actId="20577"/>
        <pc:sldMkLst>
          <pc:docMk/>
          <pc:sldMk cId="0" sldId="256"/>
        </pc:sldMkLst>
        <pc:spChg chg="mod">
          <ac:chgData name="R D" userId="323022968e8bd8a1" providerId="LiveId" clId="{367701D4-86C8-4405-8F53-196591BCD1E9}" dt="2026-10-15T08:31:51.477" v="34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62179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BAMAT207  /  REVIEW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446520" cy="1371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Reading the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shape of network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309360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A statistical bandwidth analyzer for seeing demand,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spotting unusual activity and planning capacity.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675887"/>
            <a:ext cx="64465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886200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4762"/>
            <a:ext cx="6126480" cy="6681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292824"/>
                </a:solidFill>
                <a:latin typeface="Aptos"/>
              </a:rPr>
              <a:t>Raman </a:t>
            </a:r>
            <a:r>
              <a:rPr sz="2000" b="1" i="0" dirty="0" err="1">
                <a:solidFill>
                  <a:srgbClr val="292824"/>
                </a:solidFill>
                <a:latin typeface="Aptos"/>
              </a:rPr>
              <a:t>Darda</a:t>
            </a:r>
            <a:r>
              <a:rPr sz="2000" b="1" i="0" dirty="0">
                <a:solidFill>
                  <a:srgbClr val="292824"/>
                </a:solidFill>
                <a:latin typeface="Aptos"/>
              </a:rPr>
              <a:t>  </a:t>
            </a:r>
            <a:r>
              <a:rPr lang="en-IN" sz="2000" b="1" dirty="0">
                <a:solidFill>
                  <a:srgbClr val="292824"/>
                </a:solidFill>
                <a:latin typeface="Aptos"/>
              </a:rPr>
              <a:t>;</a:t>
            </a:r>
            <a:r>
              <a:rPr sz="2000" b="1" i="0" dirty="0">
                <a:solidFill>
                  <a:srgbClr val="292824"/>
                </a:solidFill>
                <a:latin typeface="Aptos"/>
              </a:rPr>
              <a:t>  25BCE0893</a:t>
            </a:r>
            <a:endParaRPr lang="en-IN" sz="2000" b="1" i="0" dirty="0">
              <a:solidFill>
                <a:srgbClr val="292824"/>
              </a:solidFill>
              <a:latin typeface="Aptos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 i="0" dirty="0">
                <a:solidFill>
                  <a:srgbClr val="292824"/>
                </a:solidFill>
                <a:latin typeface="Aptos"/>
              </a:rPr>
              <a:t>Vedant Rao  ;  25BCE2207</a:t>
            </a:r>
            <a:endParaRPr sz="2000" b="1" i="0" dirty="0">
              <a:solidFill>
                <a:srgbClr val="292824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274320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1496"/>
            <a:ext cx="6126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Prof. Juhi Baroi</a:t>
            </a:r>
          </a:p>
        </p:txBody>
      </p:sp>
      <p:sp>
        <p:nvSpPr>
          <p:cNvPr id="12" name="Oval 11"/>
          <p:cNvSpPr/>
          <p:nvPr/>
        </p:nvSpPr>
        <p:spPr>
          <a:xfrm>
            <a:off x="8956548" y="544068"/>
            <a:ext cx="1874519" cy="1874519"/>
          </a:xfrm>
          <a:prstGeom prst="ellipse">
            <a:avLst/>
          </a:prstGeom>
          <a:noFill/>
          <a:ln w="25400">
            <a:solidFill>
              <a:srgbClr val="38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17152" y="804672"/>
            <a:ext cx="1353312" cy="1353312"/>
          </a:xfrm>
          <a:prstGeom prst="ellipse">
            <a:avLst/>
          </a:prstGeom>
          <a:noFill/>
          <a:ln w="25400">
            <a:solidFill>
              <a:srgbClr val="4C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482328" y="1069848"/>
            <a:ext cx="822960" cy="822960"/>
          </a:xfrm>
          <a:prstGeom prst="ellipse">
            <a:avLst/>
          </a:prstGeom>
          <a:noFill/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587752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FROM RAW SAMPLES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TO A CLEARER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4261104"/>
            <a:ext cx="182880" cy="49377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31352" y="3785616"/>
            <a:ext cx="182880" cy="96926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51976" y="4078224"/>
            <a:ext cx="182880" cy="676656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72600" y="3529584"/>
            <a:ext cx="182880" cy="122529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93224" y="3968496"/>
            <a:ext cx="182880" cy="78638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13848" y="3694176"/>
            <a:ext cx="182880" cy="1060704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34472" y="4187952"/>
            <a:ext cx="182880" cy="56692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055096" y="3840480"/>
            <a:ext cx="182880" cy="914400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5138928"/>
            <a:ext cx="347472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DB7AE"/>
                </a:solidFill>
                <a:latin typeface="Aptos"/>
              </a:rPr>
              <a:t>Idea  ·  problem  ·  method  · 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connection can feel slow before its cause is clear.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same symptom can come from different traffic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206240" cy="10515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“Why is the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slow right now?”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4160520" cy="12801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A single usage total cannot tell us who used bandwidth, when demand peaked, or whether latency and packet loss rose at the same time.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0952" y="1874519"/>
            <a:ext cx="0" cy="370332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87568" y="1847088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47088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139696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Which device or app is using the link?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743200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43200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035808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Are peaks tied to time of day or day of week?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639312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39312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31920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Is a spike routine demand or an anomaly?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535424"/>
            <a:ext cx="493776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535424"/>
            <a:ext cx="42976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828032"/>
            <a:ext cx="4983480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Will demand approach available capacity?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02 /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Turn measurements into network decisions.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Four questions organize the statistical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65960"/>
            <a:ext cx="54864" cy="10058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4572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331720"/>
            <a:ext cx="48006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How does demand vary by hour, day, application and device?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965960"/>
            <a:ext cx="54864" cy="1005840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01384" y="1965960"/>
            <a:ext cx="4572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331720"/>
            <a:ext cx="48006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Which usage intervals depart from their expected pattern?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538728"/>
            <a:ext cx="54864" cy="1005840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538728"/>
            <a:ext cx="4572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FORECAST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904488"/>
            <a:ext cx="48006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How closely can recent history predict future demand?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2784" y="3538728"/>
            <a:ext cx="54864" cy="10058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3538728"/>
            <a:ext cx="4572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904488"/>
            <a:ext cx="480060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When might demand put pressure on available capacity?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330952"/>
            <a:ext cx="10744200" cy="502920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404104"/>
            <a:ext cx="1024128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Aim: build an interpretable path from hourly measurements to evidence and capacity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03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simple pipeline connects collection to insight.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stage uses tools already present in the repository.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938528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2395728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7556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psutil · ping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scapy optional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42032" y="2542032"/>
            <a:ext cx="25603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9504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89504" y="2194560"/>
            <a:ext cx="1938528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08376" y="2395728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743200"/>
            <a:ext cx="17556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SQLite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structured tables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82896" y="2542032"/>
            <a:ext cx="25603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0368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230368" y="2194560"/>
            <a:ext cx="1938528" cy="64008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49240" y="2395728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PREPARE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7" y="2743200"/>
            <a:ext cx="17556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Python · Pandas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NumPy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96327" y="2779776"/>
            <a:ext cx="292609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223760" y="2542032"/>
            <a:ext cx="25603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1231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571231" y="2194560"/>
            <a:ext cx="1938528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90104" y="2395728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1" y="2743200"/>
            <a:ext cx="17556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Scikit-learn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Statsmodels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37192" y="2779776"/>
            <a:ext cx="292608" cy="0"/>
          </a:xfrm>
          <a:prstGeom prst="line">
            <a:avLst/>
          </a:prstGeom>
          <a:ln w="16510">
            <a:solidFill>
              <a:srgbClr val="706D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64624" y="2542032"/>
            <a:ext cx="256032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12096" y="2194560"/>
            <a:ext cx="1938528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912096" y="2194560"/>
            <a:ext cx="1938528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30968" y="2395728"/>
            <a:ext cx="1691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PRESENT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3536" y="2743200"/>
            <a:ext cx="1755648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Streamlit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Plotly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767328"/>
            <a:ext cx="18288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INPUT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730752"/>
            <a:ext cx="90068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Simulated 90-day traffic (5 users, 8 devices, 12 apps) or local live counters; bytes, timestamps, latency, jitter and loss.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4352544"/>
            <a:ext cx="10716768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13232" y="4590288"/>
            <a:ext cx="21488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REPORTING &amp;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44568"/>
            <a:ext cx="868680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ReportLab exports PDF reports · Plyer can send desktop alerts · SQLite stores anomaly labels and forecast records.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303520"/>
            <a:ext cx="10744200" cy="53035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5385816"/>
            <a:ext cx="101955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STACK AT A GLANCE   Python · Streamlit · SQLite · Pandas · NumPy · scikit-learn · Statsmodels · Plotly · psutil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04 / ANOMALIES — STATISTICAL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Z-score and IQR compare traffic with a seasonal baseline.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code groups by hour of day and weekday/weekend, then flags unusually high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92807"/>
            <a:ext cx="19659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Z-SCORE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76856"/>
            <a:ext cx="5166360" cy="630936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377440"/>
            <a:ext cx="46634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92824"/>
                </a:solidFill>
                <a:latin typeface="Aptos"/>
              </a:rPr>
              <a:t>z = (x − μ) / 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35808"/>
            <a:ext cx="5047488" cy="58521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x = current Mbps; μ and σ = mean and standard deviation for its seasonal group.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730752"/>
            <a:ext cx="5047488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Flag when z ≥ 2.5. Severity: info ≥2.5, warning ≥3.0, critical ≥4.5.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874519"/>
            <a:ext cx="0" cy="352044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82512" y="1892807"/>
            <a:ext cx="19659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IQR FENCE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76856"/>
            <a:ext cx="5074920" cy="630936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6177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IQR = Q₃ − Q₁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Upper = Q₃ + 1.5 × IQR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246120"/>
            <a:ext cx="4974336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Q₁ and Q₃ are the 25th and 75th percentiles for that hour/weekend group.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4005072"/>
            <a:ext cx="4974336" cy="6949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Flag when x &gt; Upper. This implementation detects high spikes; it does not flag unusually low traffic.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0698480" cy="557784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5175504"/>
            <a:ext cx="1024128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8F5EF"/>
                </a:solidFill>
                <a:latin typeface="Aptos"/>
              </a:rPr>
              <a:t>Both are explainable statistical rules. Their thresholds control sensitivity; they do not learn from anomaly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05 / ANOMALIES — ISOLATION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Isolation Forest uses random splits to isolate unusual points.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It is an unsupervised machine-learning method built from a mathematical isolation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FEATURES USED BY 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95144"/>
            <a:ext cx="493776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Mbps · bytes up · bytes down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hour of day · day of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36976"/>
            <a:ext cx="4846320" cy="7863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Shorter average path to isolate a point implies it is more anomalous.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142232"/>
            <a:ext cx="4992624" cy="832104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4197096"/>
            <a:ext cx="45902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s(x,n) = 2^(−E[h(x)] / c(n))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544568"/>
            <a:ext cx="45902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c(n) = 2H(n−1) − 2(n−1)/n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029200"/>
            <a:ext cx="4965192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6D66"/>
                </a:solidFill>
                <a:latin typeface="Aptos"/>
              </a:rPr>
              <a:t>Contamination 3% sets expected flagged share; severity uses score cutoffs.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1874519"/>
            <a:ext cx="0" cy="361188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1883664"/>
            <a:ext cx="43434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VALIDATION AGAINST SYNTHETIC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13432"/>
            <a:ext cx="495604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Precision = TP / (TP + FP)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495604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Recall = TP / (TP + FN)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264408"/>
            <a:ext cx="495604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F1 = 2 × Precision × Recall / (Precision + Recall)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77056"/>
            <a:ext cx="4956048" cy="7498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TP: correctly flagged · FP: false alarm · FN: missed labeled event. Higher precision means fewer false alarms; higher recall means fewer misses.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846320"/>
            <a:ext cx="4992624" cy="62179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4928616"/>
            <a:ext cx="45720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92824"/>
                </a:solidFill>
                <a:latin typeface="Aptos"/>
              </a:rPr>
              <a:t>Isolation score in code = −Scikit-learn decision_function(X)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06 / FORECAST — TIME-SERIES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Forecasting starts with an hourly Mbps series.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Traffic is grouped by hour, then compared using a daily baseline and additive Holt–Winters.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56692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20240"/>
            <a:ext cx="1025956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Mbps = (bytes_up + bytes_down) × 8 / (3,600 × 1,000,000)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60904"/>
            <a:ext cx="48463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SEASONAL NAÏVE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632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92824"/>
                </a:solidFill>
                <a:latin typeface="Aptos"/>
              </a:rPr>
              <a:t>ŷₜ = yₜ₋₂₄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538728"/>
            <a:ext cx="484632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Predict this hour using the observed value from 24 hours earlier.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615184"/>
            <a:ext cx="0" cy="2706624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2660904"/>
            <a:ext cx="48463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ADDITIVE HOLT–WINTERS · SEASON LENGTH m =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054096"/>
            <a:ext cx="4956048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Level:  ℓₜ = α(yₜ − sₜ₋₂₄) + (1−α)(ℓₜ₋₁ + bₜ₋₁)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529584"/>
            <a:ext cx="4956048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Trend:  bₜ = β(ℓₜ − ℓₜ₋₁) + (1−β)bₜ₋₁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005072"/>
            <a:ext cx="4956048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Season: sₜ = γ(yₜ − ℓₜ) + (1−γ)sₜ₋₂₄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489704"/>
            <a:ext cx="4956048" cy="3931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Forecast: ŷₜ₊ₕ = ℓₜ + h·bₜ + matching seasonal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65192"/>
            <a:ext cx="493776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06D66"/>
                </a:solidFill>
                <a:latin typeface="Aptos"/>
              </a:rPr>
              <a:t>α, β, γ control update speed for level, trend and season.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10698480" cy="39319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431536"/>
            <a:ext cx="1025956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“Additive” means level + trend + seasonal effect. This is time-series smoothing, not a straight-line regression equation.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07 / FORECAST — REGRESSION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Gradient Boosting learns patterns from lag and calendar features.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dashboard uses this model to produce the next 24-hour forecast.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08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489204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FEATURE VECTOR xₜ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31136"/>
            <a:ext cx="5010912" cy="8686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lag₁, lag₂, lag₂₄ · rolling mean/std (24h)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hour of day · weekday · weekend 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282696"/>
            <a:ext cx="5010912" cy="70408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92424"/>
            <a:ext cx="4590288" cy="4480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Fₘ(x) = Fₘ₋₁(x) + ηhₘ(x)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23944"/>
            <a:ext cx="4956048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added decision tree hₘ corrects patterns left in earlier predictions. The model is HistGradientBoostingRegressor.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28800"/>
            <a:ext cx="0" cy="342900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1847088"/>
            <a:ext cx="484632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 BAND &amp; CAPACITY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58568"/>
            <a:ext cx="4919472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Lower / upper = ŷ ± 1.96σ₇₂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52344"/>
            <a:ext cx="4919472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σ₇₂ is the standard deviation of recent 72-hour traffic; lower bound is clipped at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648456"/>
            <a:ext cx="4919472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Capacity warning if ŷ ≥ 0.85 × link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133087"/>
            <a:ext cx="4919472" cy="7040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The band is a recent-volatility estimate, not a calibrated 95% model confidence interval.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093208"/>
            <a:ext cx="10698480" cy="53035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175504"/>
            <a:ext cx="1014984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Validation uses the final 168 hours (7 days) as a time-ordered holdout; earlier hours train the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08 / FORECAST —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Use error metrics and R² to describe forecast quality.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Lower error is better; R² describes fit relative to predicting the test-set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47088"/>
            <a:ext cx="501091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ERROR METRICS · y = actual, ŷ = 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49377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MAE  = (1/n) Σ |yᵢ − ŷᵢ|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49377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RMSE = √[(1/n) Σ (yᵢ − ŷᵢ)²]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38144"/>
            <a:ext cx="49377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MAPE = (100/n) Σ |(yᵢ − ŷᵢ) / yᵢ|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MAE: average miss in Mbps · RMSE penalizes large misses · MAPE expresses miss as a percent (undefined at actual zero).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1828800"/>
            <a:ext cx="0" cy="3456432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1847088"/>
            <a:ext cx="484632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COEFFICIENT OF DETERMINATION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86000"/>
            <a:ext cx="4983480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2395728"/>
            <a:ext cx="4645152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R² = 1 − Σ(yᵢ−ŷᵢ)² / Σ(yᵢ−ȳ)²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136392"/>
            <a:ext cx="49377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06D66"/>
                </a:solidFill>
                <a:latin typeface="Aptos"/>
              </a:rPr>
              <a:t>R² = 1 means a perfect match on this test set; R² = 0 matches the mean-only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840480"/>
            <a:ext cx="49377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553D"/>
                </a:solidFill>
                <a:latin typeface="Aptos"/>
              </a:rPr>
              <a:t>PROJECT TARGET: R² &gt; 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288536"/>
            <a:ext cx="49377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To be added and measured later. It is not currently calculated by the forecast page and is not a result yet.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148072"/>
            <a:ext cx="10588752" cy="48463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0976" y="5230368"/>
            <a:ext cx="1016812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8F5EF"/>
                </a:solidFill>
                <a:latin typeface="Aptos"/>
              </a:rPr>
              <a:t>Important: high R² alone does not guarantee small forecast errors or prove the model will generalize.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09 / REVIEW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From proposal to tested results in three reviews.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This first review establishes the mathematical approach and implementation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249424"/>
            <a:ext cx="2944368" cy="54864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505456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REVIEW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953512"/>
            <a:ext cx="320040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Idea · formulas ·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675887"/>
            <a:ext cx="315468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Define the problem, methods, tech stack and evaluation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2249424"/>
            <a:ext cx="2944368" cy="54864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6" y="2505456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REVIEW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53512"/>
            <a:ext cx="320040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Implementation ·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675887"/>
            <a:ext cx="315468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Show working screens, calculate metrics and tune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2249424"/>
            <a:ext cx="2944368" cy="54864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03336" y="2505456"/>
            <a:ext cx="30632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REVIEW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53512"/>
            <a:ext cx="3200400" cy="5486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Validation ·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675887"/>
            <a:ext cx="3154680" cy="9326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Compare results, explain limits and present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956048"/>
            <a:ext cx="10744200" cy="70408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056632"/>
            <a:ext cx="10195560" cy="4846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DATA NOTE   Simulator = labeled, repeatable study data. Live capture = local measurements; short live history cannot support the 7-day holdout evaluation yet.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779008"/>
            <a:ext cx="10744200" cy="365760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5806440"/>
            <a:ext cx="1019556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F5EF"/>
                </a:solidFill>
                <a:latin typeface="Aptos"/>
              </a:rPr>
              <a:t>Measure  →  explain  →  anticipate  → 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1450</Words>
  <Application>Microsoft Office PowerPoint</Application>
  <PresentationFormat>Widescreen</PresentationFormat>
  <Paragraphs>173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D</cp:lastModifiedBy>
  <cp:revision>1</cp:revision>
  <dcterms:created xsi:type="dcterms:W3CDTF">2013-01-27T09:14:16Z</dcterms:created>
  <dcterms:modified xsi:type="dcterms:W3CDTF">2026-10-15T08:31:58Z</dcterms:modified>
  <cp:category/>
</cp:coreProperties>
</file>